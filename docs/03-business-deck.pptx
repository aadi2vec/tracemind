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3657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Helvetica"/>
              </a:defRPr>
            </a:pPr>
            <a:r>
              <a:t>TraceMind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38BDF8"/>
                </a:solidFill>
                <a:latin typeface="Helvetica"/>
              </a:defRPr>
            </a:pPr>
            <a:r>
              <a:t>The Memory OS for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Helvetica"/>
              </a:defRPr>
            </a:pPr>
            <a:r>
              <a:t>Your AI finally remembers. Locally. Privately. Auditably.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Helvetica"/>
              </a:defRPr>
            </a:pPr>
            <a:r>
              <a:t>Aaditya Srivathsan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361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Helvetica"/>
              </a:defRPr>
            </a:pPr>
            <a:r>
              <a:t>Stateless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536192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Helvetica"/>
              </a:defRPr>
            </a:pPr>
            <a:r>
              <a:t>Every session starts from zero. Claude Code rediscovers your codebase every single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1069848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42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Helvetica"/>
              </a:defRPr>
            </a:pPr>
            <a:r>
              <a:t>Endless Repetition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542032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Helvetica"/>
              </a:defRPr>
            </a:pPr>
            <a:r>
              <a:t>Users repeat preferences, context, and decisions to AI tools hundreds of times.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47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Helvetica"/>
              </a:defRPr>
            </a:pPr>
            <a:r>
              <a:t>No 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547872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Helvetica"/>
              </a:defRPr>
            </a:pPr>
            <a:r>
              <a:t>In regulated environments, there is zero accountability for AI-assisted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1069848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537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Helvetica"/>
              </a:defRPr>
            </a:pPr>
            <a:r>
              <a:t>Cloud Lock-in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553712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Helvetica"/>
              </a:defRPr>
            </a:pPr>
            <a:r>
              <a:t>Existing memory solutions (mem0, Zep) require sending private data to third-party servers.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69848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5595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4A3B8"/>
                </a:solidFill>
                <a:latin typeface="Helvetica"/>
              </a:defRPr>
            </a:pPr>
            <a:r>
              <a:t>Blind Recording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559552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Helvetica"/>
              </a:defRPr>
            </a:pPr>
            <a:r>
              <a:t>Rewind/Limitless record screens but build no structured understanding.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TraceMind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Helvetica"/>
              </a:defRPr>
            </a:pPr>
            <a:r>
              <a:t>A local-only memory OS that makes AI remember, learn, and explain.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116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Helvetica"/>
              </a:defRPr>
            </a:pPr>
            <a:r>
              <a:t>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173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Watches your browser, Claude Code, clipboard—with explicit consent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011680"/>
            <a:ext cx="20116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194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Helvetica"/>
              </a:defRPr>
            </a:pPr>
            <a:r>
              <a:t>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834640"/>
            <a:ext cx="173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Builds entity graphs and semantic clusters,</a:t>
            </a:r>
            <a:br/>
            <a:r>
              <a:t>not raw recordings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011680"/>
            <a:ext cx="20116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2194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Helvetica"/>
              </a:defRPr>
            </a:pPr>
            <a:r>
              <a:t>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834640"/>
            <a:ext cx="173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RL-based policy that improves retrieval</a:t>
            </a:r>
            <a:br/>
            <a:r>
              <a:t>over time from your feedback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199" y="2011680"/>
            <a:ext cx="20116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59" y="2194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Helvetica"/>
              </a:defRPr>
            </a:pPr>
            <a:r>
              <a:t>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59" y="2834640"/>
            <a:ext cx="173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Full Merkle-chain trace for every</a:t>
            </a:r>
            <a:br/>
            <a:r>
              <a:t>AI decision. Deterministic replay.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2011680"/>
            <a:ext cx="20116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2194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Helvetica"/>
              </a:defRPr>
            </a:pPr>
            <a:r>
              <a:t>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2834640"/>
            <a:ext cx="173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100% on-device. No cloud. No telemetry.</a:t>
            </a:r>
            <a:br/>
            <a:r>
              <a:t>Your data never leaves your machine.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2011680"/>
            <a:ext cx="15544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Helvetica"/>
              </a:defRPr>
            </a:pPr>
            <a:r>
              <a:t>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5176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Helvetica"/>
              </a:defRPr>
            </a:pPr>
            <a:r>
              <a:t>Browser, clipboard,</a:t>
            </a:r>
            <a:br/>
            <a:r>
              <a:t>Claude Code hooks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79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Helvetica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79" y="2011680"/>
            <a:ext cx="15544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Helvetica"/>
              </a:defRPr>
            </a:pPr>
            <a:r>
              <a:t>Canonicalize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5176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Helvetica"/>
              </a:defRPr>
            </a:pPr>
            <a:r>
              <a:t>Entity extraction,</a:t>
            </a:r>
            <a:br/>
            <a:r>
              <a:t>triple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Helvetica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011680"/>
            <a:ext cx="15544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Helvetica"/>
              </a:defRPr>
            </a:pPr>
            <a:r>
              <a:t>Govern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65176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Helvetica"/>
              </a:defRPr>
            </a:pPr>
            <a:r>
              <a:t>PII filter, schema</a:t>
            </a:r>
            <a:br/>
            <a:r>
              <a:t>validation, user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Helvetica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011680"/>
            <a:ext cx="15544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Helvetica"/>
              </a:defRPr>
            </a:pPr>
            <a:r>
              <a:t>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65176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Helvetica"/>
              </a:defRPr>
            </a:pPr>
            <a:r>
              <a:t>Graph + vectors +</a:t>
            </a:r>
            <a:br/>
            <a:r>
              <a:t>clusters + traces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Helvetica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011680"/>
            <a:ext cx="15544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Helvetica"/>
              </a:defRPr>
            </a:pPr>
            <a:r>
              <a:t>Retrieve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65176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Helvetica"/>
              </a:defRPr>
            </a:pPr>
            <a:r>
              <a:t>3-phase recall</a:t>
            </a:r>
            <a:br/>
            <a:r>
              <a:t>with bounded 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Helvetica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47120" y="2011680"/>
            <a:ext cx="15544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Helvetica"/>
              </a:defRPr>
            </a:pPr>
            <a:r>
              <a:t>Learn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265176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Helvetica"/>
              </a:defRPr>
            </a:pPr>
            <a:r>
              <a:t>UCB bandit → RL</a:t>
            </a:r>
            <a:br/>
            <a:r>
              <a:t>policy from trajectories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846320"/>
            <a:ext cx="10698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8BDF8"/>
                </a:solidFill>
                <a:latin typeface="Helvetica"/>
              </a:defRPr>
            </a:pPr>
            <a:r>
              <a:t>All on-device  •  Rust core  •  &lt;200MB RAM  •  &lt;250MB install  •  macOS / Windows / Linux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The Cognitive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Helvetica"/>
              </a:defRPr>
            </a:pPr>
            <a:r>
              <a:t>Five memory layers, each serving a distinct cognitive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7432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Helvetica"/>
              </a:defRPr>
            </a:pPr>
            <a:r>
              <a:t>1. Semantic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828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"/>
              </a:defRPr>
            </a:pPr>
            <a:r>
              <a:t>Intuition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83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Recall anything similar</a:t>
            </a:r>
            <a:br/>
            <a:r>
              <a:t>via 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783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Helvetica"/>
              </a:defRPr>
            </a:pPr>
            <a:r>
              <a:t>Vector Store</a:t>
            </a:r>
            <a:br/>
            <a:r>
              <a:t>(LanceDB)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1069848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Helvetica"/>
              </a:defRPr>
            </a:pPr>
            <a:r>
              <a:t>2. Structured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788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"/>
              </a:defRPr>
            </a:pPr>
            <a:r>
              <a:t>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743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Connect facts via</a:t>
            </a:r>
            <a:br/>
            <a:r>
              <a:t>typed 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Helvetica"/>
              </a:defRPr>
            </a:pPr>
            <a:r>
              <a:t>Entity Graph</a:t>
            </a:r>
            <a:br/>
            <a:r>
              <a:t>(Kuzu/SQLite)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1069848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4903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Helvetica"/>
              </a:defRPr>
            </a:pPr>
            <a:r>
              <a:t>3. Clustered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49039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"/>
              </a:defRPr>
            </a:pPr>
            <a:r>
              <a:t>Concepts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703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Group entities into</a:t>
            </a:r>
            <a:br/>
            <a:r>
              <a:t>higher-level themes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703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Helvetica"/>
              </a:defRPr>
            </a:pPr>
            <a:r>
              <a:t>HDBSCAN</a:t>
            </a:r>
            <a:br/>
            <a:r>
              <a:t>Index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17720"/>
            <a:ext cx="1069848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BF24"/>
                </a:solidFill>
                <a:latin typeface="Helvetica"/>
              </a:defRPr>
            </a:pPr>
            <a:r>
              <a:t>4. Episodic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709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"/>
              </a:defRPr>
            </a:pPr>
            <a:r>
              <a:t>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663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Record every interaction,</a:t>
            </a:r>
            <a:br/>
            <a:r>
              <a:t>decision, and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663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Helvetica"/>
              </a:defRPr>
            </a:pPr>
            <a:r>
              <a:t>Append-only</a:t>
            </a:r>
            <a:br/>
            <a:r>
              <a:t>Parquet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6927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084FC"/>
                </a:solidFill>
                <a:latin typeface="Helvetica"/>
              </a:defRPr>
            </a:pPr>
            <a:r>
              <a:t>5. Procedural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669279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"/>
              </a:defRPr>
            </a:pPr>
            <a:r>
              <a:t>Skills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62355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Store HOW to do things</a:t>
            </a:r>
            <a:br/>
            <a:r>
              <a:t>as versioned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62355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Helvetica"/>
              </a:defRPr>
            </a:pPr>
            <a:r>
              <a:t>Graph + Vector</a:t>
            </a:r>
            <a:br/>
            <a:r>
              <a:t>Hybrid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Latent Intelligence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Helvetica"/>
              </a:defRPr>
            </a:pPr>
            <a:r>
              <a:t>Not LLM-driven. Small local models trained on YOUR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7432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Helvetica"/>
              </a:defRPr>
            </a:pPr>
            <a:r>
              <a:t>JEPA Encoder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Helvetica"/>
              </a:defRPr>
            </a:pPr>
            <a:r>
              <a:t>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Predicts what a good answer</a:t>
            </a:r>
            <a:br/>
            <a:r>
              <a:t>looks like in latent space.</a:t>
            </a:r>
            <a:br/>
            <a:r>
              <a:t>Replaces raw cosine similarity.</a:t>
            </a:r>
            <a:br/>
            <a:br/>
            <a:r>
              <a:t>~5M params | ~20MB | CPU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737360"/>
            <a:ext cx="34747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87451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Helvetica"/>
              </a:defRPr>
            </a:pPr>
            <a:r>
              <a:t>World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Helvetica"/>
              </a:defRPr>
            </a:pPr>
            <a:r>
              <a:t>Phase 3-4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603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Predicts what you need NEXT.</a:t>
            </a:r>
            <a:br/>
            <a:r>
              <a:t>Simulates procedure outcomes</a:t>
            </a:r>
            <a:br/>
            <a:r>
              <a:t>before execution.</a:t>
            </a:r>
            <a:br/>
            <a:br/>
            <a:r>
              <a:t>~2-5M params | ~20MB | CPU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737360"/>
            <a:ext cx="34747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87451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Helvetica"/>
              </a:defRPr>
            </a:pPr>
            <a:r>
              <a:t>SSM (Mamba)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Helvetica"/>
              </a:defRPr>
            </a:pPr>
            <a:r>
              <a:t>Phase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5603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Compresses temporal history</a:t>
            </a:r>
            <a:br/>
            <a:r>
              <a:t>into fixed-size hidden state.</a:t>
            </a:r>
            <a:br/>
            <a:r>
              <a:t>Constant-time temporal queries.</a:t>
            </a:r>
            <a:br/>
            <a:br/>
            <a:r>
              <a:t>~1-3M params | ~10MB | CPU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6984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166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38BDF8"/>
                </a:solidFill>
                <a:latin typeface="Helvetica"/>
              </a:defRPr>
            </a:pPr>
            <a:r>
              <a:t>Total model budget: ~8-13M params | ~40-60MB on disk | Trainable on CPU during idle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5778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Helvetica"/>
              </a:defRPr>
            </a:pPr>
            <a:r>
              <a:t>For reference: all-MiniLM-L6-v2 is 22M params and runs fine on CPU. These are smaller.</a:t>
            </a:r>
            <a:br/>
            <a:r>
              <a:t>All trained on YOUR local trajectory data. No cloud. No GPU. No LLM dependency.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Claude Code + TraceMind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7171"/>
                </a:solidFill>
                <a:latin typeface="Helvetica"/>
              </a:defRPr>
            </a:pPr>
            <a:r>
              <a:t>Today: Stateless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Helvetica"/>
              </a:defRPr>
              <a:buChar char="•"/>
            </a:pPr>
            <a:r>
              <a:t>Forgets everything between sessions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Helvetica"/>
              </a:defRPr>
              <a:buChar char="•"/>
            </a:pPr>
            <a:r>
              <a:t>Rediscovers your codebase every time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Helvetica"/>
              </a:defRPr>
              <a:buChar char="•"/>
            </a:pPr>
            <a:r>
              <a:t>Can't learn from past mistakes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Helvetica"/>
              </a:defRPr>
              <a:buChar char="•"/>
            </a:pPr>
            <a:r>
              <a:t>No audit trail of AI code decisions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Helvetica"/>
              </a:defRPr>
            </a:pPr>
            <a:r>
              <a:t>With TraceMind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Helvetica"/>
              </a:defRPr>
              <a:buChar char="•"/>
            </a:pPr>
            <a:r>
              <a:t>Session 1: generic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Helvetica"/>
              </a:defRPr>
              <a:buChar char="•"/>
            </a:pPr>
            <a:r>
              <a:t>Session 10: knows your naming conventions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Helvetica"/>
              </a:defRPr>
              <a:buChar char="•"/>
            </a:pPr>
            <a:r>
              <a:t>Session 50: knows what succeeded / failed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Helvetica"/>
              </a:defRPr>
              <a:buChar char="•"/>
            </a:pPr>
            <a:r>
              <a:t>Session 200: deep project knowledge graph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Helvetica"/>
              </a:defRPr>
              <a:buChar char="•"/>
            </a:pPr>
            <a:r>
              <a:t>MCP server + passive hooks = bidirectional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Why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65176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86%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Helvetica"/>
              </a:defRPr>
            </a:pPr>
            <a:r>
              <a:t>of enterprises will deploy</a:t>
            </a:r>
            <a:br/>
            <a:r>
              <a:t>AI agents by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Helvetica"/>
              </a:defRPr>
            </a:pPr>
            <a:r>
              <a:t>Gartner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463040"/>
            <a:ext cx="265176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737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€35M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560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Helvetica"/>
              </a:defRPr>
            </a:pPr>
            <a:r>
              <a:t>max fines under EU AI Act</a:t>
            </a:r>
            <a:br/>
            <a:r>
              <a:t>for non-compliance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Helvetica"/>
              </a:defRPr>
            </a:pPr>
            <a:r>
              <a:t>EU AI Act 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265176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$21.1B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Helvetica"/>
              </a:defRPr>
            </a:pPr>
            <a:r>
              <a:t>Explainable AI market</a:t>
            </a:r>
            <a:br/>
            <a:r>
              <a:t>by 2030 (from $7.8B)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Helvetica"/>
              </a:defRPr>
            </a:pPr>
            <a:r>
              <a:t>Grand View 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463040"/>
            <a:ext cx="265176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737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$5.8B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560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Helvetica"/>
              </a:defRPr>
            </a:pPr>
            <a:r>
              <a:t>AI Governance market</a:t>
            </a:r>
            <a:br/>
            <a:r>
              <a:t>by 2029 (45% CAGR)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Helvetica"/>
              </a:defRPr>
            </a:pPr>
            <a:r>
              <a:t>MarketsAndMarkets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1206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BBF24"/>
                </a:solidFill>
                <a:latin typeface="Helvetica"/>
              </a:defRPr>
            </a:pPr>
            <a:r>
              <a:t>Microsoft Recall backlash proved: users WANT memory but DEMAND privacy.</a:t>
            </a:r>
            <a:br/>
            <a:r>
              <a:t>No product combines: local + structured + learning + auditable. Until now.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Product Moments That Matter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Helvetic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Helvetica"/>
              </a:defRPr>
            </a:pPr>
            <a:r>
              <a:t>“It remembered what I browsed 2 weeks ago</a:t>
            </a:r>
            <a:br/>
            <a:r>
              <a:t>and surfaced it in Claude Code.”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698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ADE80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83464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Helvetica"/>
              </a:defRPr>
            </a:pPr>
            <a:r>
              <a:t>“Show me WHY my AI made that decision.”</a:t>
            </a:r>
            <a:br/>
            <a:r>
              <a:t>→ Full trace replay with every memory 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698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11480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Helvetica"/>
              </a:defRPr>
            </a:pPr>
            <a:r>
              <a:t>“After 50 sessions, retrieval quality</a:t>
            </a:r>
            <a:br/>
            <a:r>
              <a:t>measurably improved.”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19"/>
            <a:ext cx="10698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440679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BBF24"/>
                </a:solidFill>
                <a:latin typeface="Helvetic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394959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Helvetica"/>
              </a:defRPr>
            </a:pPr>
            <a:r>
              <a:t>“All my data is on MY machine.</a:t>
            </a:r>
            <a:br/>
            <a:r>
              <a:t>I can see exactly what it knows.”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Helvetica"/>
              </a:defRPr>
            </a:pPr>
            <a: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Helvetica"/>
              </a:defRPr>
            </a:pPr>
            <a:r>
              <a:t>$80B+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AI Governance ($5.8B) + Legal AI ($3.9B)</a:t>
            </a:r>
            <a:br/>
            <a:r>
              <a:t>+ Compliance Software ($75B by 2032)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463040"/>
            <a:ext cx="34747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Helvetica"/>
              </a:defRPr>
            </a:pPr>
            <a: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2D3EE"/>
                </a:solidFill>
                <a:latin typeface="Helvetica"/>
              </a:defRPr>
            </a:pPr>
            <a:r>
              <a:t>$8B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Developer tools + regulated enterprise</a:t>
            </a:r>
            <a:br/>
            <a:r>
              <a:t>AI users in North America &amp; Europe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34747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Helvetica"/>
              </a:defRPr>
            </a:pPr>
            <a:r>
              <a:t>SOM (Y1)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011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ADE80"/>
                </a:solidFill>
                <a:latin typeface="Helvetica"/>
              </a:defRPr>
            </a:pPr>
            <a:r>
              <a:t>$7M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743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50K consumers @ $10/mo</a:t>
            </a:r>
            <a:br/>
            <a:r>
              <a:t>+ 20 enterprise @ $50K/yr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BBF24"/>
                </a:solidFill>
                <a:latin typeface="Helvetica"/>
              </a:defRPr>
            </a:pPr>
            <a:r>
              <a:t>Wedge:  Consumer desktop app  →  Claude Code power users  →  Enterprise governance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46304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Helvetica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46304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1417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Helvetica"/>
              </a:defRPr>
            </a:pPr>
            <a:r>
              <a:t>Local-Only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371600"/>
            <a:ext cx="146304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1417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Helvetica"/>
              </a:defRPr>
            </a:pPr>
            <a:r>
              <a:t>Structured</a:t>
            </a:r>
            <a:br/>
            <a:r>
              <a:t>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59" y="1371600"/>
            <a:ext cx="146304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79" y="1417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Helvetica"/>
              </a:defRPr>
            </a:pPr>
            <a:r>
              <a:t>Audit</a:t>
            </a:r>
            <a:br/>
            <a:r>
              <a:t>Trail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371600"/>
            <a:ext cx="146304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59" y="1417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Helvetica"/>
              </a:defRPr>
            </a:pPr>
            <a:r>
              <a:t>Self-</a:t>
            </a:r>
            <a:br/>
            <a:r>
              <a:t>Improving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371600"/>
            <a:ext cx="146304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417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Helvetica"/>
              </a:defRPr>
            </a:pPr>
            <a:r>
              <a:t>Lightweight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1371600"/>
            <a:ext cx="146304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4120" y="1417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Helvetica"/>
              </a:defRPr>
            </a:pPr>
            <a:r>
              <a:t>Open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194560"/>
            <a:ext cx="1463040" cy="685800"/>
          </a:xfrm>
          <a:prstGeom prst="roundRect">
            <a:avLst/>
          </a:prstGeom>
          <a:solidFill>
            <a:srgbClr val="0D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286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DE80"/>
                </a:solidFill>
                <a:latin typeface="Helvetica"/>
              </a:defRPr>
            </a:pPr>
            <a:r>
              <a:t>TraceMind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2194560"/>
            <a:ext cx="1463040" cy="685800"/>
          </a:xfrm>
          <a:prstGeom prst="roundRect">
            <a:avLst/>
          </a:prstGeom>
          <a:solidFill>
            <a:srgbClr val="0D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22677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DE80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2194560"/>
            <a:ext cx="1463040" cy="685800"/>
          </a:xfrm>
          <a:prstGeom prst="roundRect">
            <a:avLst/>
          </a:prstGeom>
          <a:solidFill>
            <a:srgbClr val="0D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2677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DE80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2194560"/>
            <a:ext cx="1463040" cy="685800"/>
          </a:xfrm>
          <a:prstGeom prst="roundRect">
            <a:avLst/>
          </a:prstGeom>
          <a:solidFill>
            <a:srgbClr val="0D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2677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DE80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2194560"/>
            <a:ext cx="1463040" cy="685800"/>
          </a:xfrm>
          <a:prstGeom prst="roundRect">
            <a:avLst/>
          </a:prstGeom>
          <a:solidFill>
            <a:srgbClr val="0D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59" y="22677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DE80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2194560"/>
            <a:ext cx="1463040" cy="685800"/>
          </a:xfrm>
          <a:prstGeom prst="roundRect">
            <a:avLst/>
          </a:prstGeom>
          <a:solidFill>
            <a:srgbClr val="0D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22677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DE80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0" y="2194560"/>
            <a:ext cx="1463040" cy="685800"/>
          </a:xfrm>
          <a:prstGeom prst="roundRect">
            <a:avLst/>
          </a:prstGeom>
          <a:solidFill>
            <a:srgbClr val="0D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22677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DE80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01752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108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Helvetica"/>
              </a:defRPr>
            </a:pPr>
            <a:r>
              <a:t>Rewind / Limitless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0" y="3017520"/>
            <a:ext cx="146304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31720" y="30906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DE80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0" y="301752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86200" y="30906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B5563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94960" y="301752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30906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B5563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49440" y="301752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59" y="30906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B5563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03920" y="301752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30906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B5563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58400" y="301752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04120" y="30906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B5563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384048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3931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Helvetica"/>
              </a:defRPr>
            </a:pPr>
            <a:r>
              <a:t>mem0 / Zep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86000" y="384048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31720" y="39136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B5563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40480" y="384048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86200" y="39136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B5563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94960" y="384048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40680" y="39136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B5563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49440" y="384048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95159" y="39136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B5563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03920" y="3840480"/>
            <a:ext cx="146304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49640" y="39136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DE80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058400" y="3840480"/>
            <a:ext cx="146304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04120" y="39136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DE80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466344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" y="47548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Helvetica"/>
              </a:defRPr>
            </a:pPr>
            <a:r>
              <a:t>Apple Intelligence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86000" y="4663440"/>
            <a:ext cx="146304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31720" y="47365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DE80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840480" y="466344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86200" y="47365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B5563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394960" y="466344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40680" y="47365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B5563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949440" y="466344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95159" y="47365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B5563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503920" y="4663440"/>
            <a:ext cx="146304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49640" y="47365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DE80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058400" y="466344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04120" y="47365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B5563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548640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7240" y="5577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Helvetica"/>
              </a:defRPr>
            </a:pPr>
            <a:r>
              <a:t>Microsoft Recall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286000" y="5486400"/>
            <a:ext cx="146304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31720" y="55595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DE80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840480" y="548640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86200" y="55595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B5563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394960" y="548640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40680" y="55595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B5563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949440" y="548640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995159" y="55595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B5563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503920" y="548640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49640" y="55595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B5563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058400" y="5486400"/>
            <a:ext cx="1463040" cy="68580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104120" y="55595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B5563"/>
                </a:solidFill>
                <a:latin typeface="Helvetica"/>
              </a:defRPr>
            </a:pPr>
            <a:r>
              <a:t>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Technical Moat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Helvetica"/>
              </a:defRPr>
            </a:pPr>
            <a:r>
              <a:t>Rust Data 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Helvetica"/>
              </a:defRPr>
            </a:pPr>
            <a:r>
              <a:t>5x less RAM than Python.</a:t>
            </a:r>
            <a:br/>
            <a:r>
              <a:t>No GC pauses. &lt;50MB binary.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46304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Helvetica"/>
              </a:defRPr>
            </a:pPr>
            <a:r>
              <a:t>Embedded DBs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488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Helvetica"/>
              </a:defRPr>
            </a:pPr>
            <a:r>
              <a:t>Kuzu (graph) + LanceDB (vector).</a:t>
            </a:r>
            <a:br/>
            <a:r>
              <a:t>No server processes. &lt;200MB total.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Helvetica"/>
              </a:defRPr>
            </a:pPr>
            <a:r>
              <a:t>Merkle Audit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488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Helvetica"/>
              </a:defRPr>
            </a:pPr>
            <a:r>
              <a:t>Cryptographic hash chain.</a:t>
            </a:r>
            <a:br/>
            <a:r>
              <a:t>Tamper-evident. Forensic-grade.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Helvetica"/>
              </a:defRPr>
            </a:pPr>
            <a:r>
              <a:t>RL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Helvetica"/>
              </a:defRPr>
            </a:pPr>
            <a:r>
              <a:t>Memory-R1 + Graph-R1 trajectories.</a:t>
            </a:r>
            <a:br/>
            <a:r>
              <a:t>Bandit → policy net → GRPO.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84048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977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Helvetica"/>
              </a:defRPr>
            </a:pPr>
            <a:r>
              <a:t>FSM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526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Helvetica"/>
              </a:defRPr>
            </a:pPr>
            <a:r>
              <a:t>Deterministic state machine.</a:t>
            </a:r>
            <a:br/>
            <a:r>
              <a:t>Bitwise reproducible decisions.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84048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977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Helvetica"/>
              </a:defRPr>
            </a:pPr>
            <a:r>
              <a:t>Palantir Ontology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526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Helvetica"/>
              </a:defRPr>
            </a:pPr>
            <a:r>
              <a:t>Same data model as Palantir AIP.</a:t>
            </a:r>
            <a:br/>
            <a:r>
              <a:t>Enterprise-ready from day 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4A3B8"/>
                </a:solidFill>
                <a:latin typeface="Helvetica"/>
              </a:defRPr>
            </a:pPr>
            <a: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$0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Local memory (30-day window)</a:t>
            </a:r>
            <a:br/>
            <a:r>
              <a:t>Basic graph visualization</a:t>
            </a:r>
            <a:br/>
            <a:r>
              <a:t>CLI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371600"/>
            <a:ext cx="347472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Helvetica"/>
              </a:defRPr>
            </a:pPr>
            <a:r>
              <a:t>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$10/mo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Unlimited memory retention</a:t>
            </a:r>
            <a:br/>
            <a:r>
              <a:t>RL learning + trajectory training</a:t>
            </a:r>
            <a:br/>
            <a:r>
              <a:t>Claude Code MCP integration</a:t>
            </a:r>
            <a:br/>
            <a:r>
              <a:t>Chrome extension</a:t>
            </a:r>
            <a:br/>
            <a:r>
              <a:t>Full audit trail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47472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  <a:latin typeface="Helvetica"/>
              </a:defRPr>
            </a:pPr>
            <a:r>
              <a:t>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$50–200K/yr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7432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Docker deployment</a:t>
            </a:r>
            <a:br/>
            <a:r>
              <a:t>Team knowledge graphs</a:t>
            </a:r>
            <a:br/>
            <a:r>
              <a:t>SOC2 compliance toolkit</a:t>
            </a:r>
            <a:br/>
            <a:r>
              <a:t>Policy-as-Code engine</a:t>
            </a:r>
            <a:br/>
            <a:r>
              <a:t>Merkle audit + export</a:t>
            </a:r>
            <a:br/>
            <a:r>
              <a:t>SSO / RBAC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Go-to-Market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743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Helvetica"/>
              </a:defRPr>
            </a:pPr>
            <a:r>
              <a:t>Q2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Developer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Desktop app + Claude Code MCP</a:t>
            </a:r>
            <a:br/>
            <a:r>
              <a:t>Target: developers, power users</a:t>
            </a:r>
            <a:br/>
            <a:r>
              <a:t>Homebrew, Product Hunt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743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Helvetica"/>
              </a:defRPr>
            </a:pPr>
            <a:r>
              <a:t>Q3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965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Consumer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56032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Chrome extension + marketing</a:t>
            </a:r>
            <a:br/>
            <a:r>
              <a:t>Target: 50K users</a:t>
            </a:r>
            <a:br/>
            <a:r>
              <a:t>Content marketing, community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2743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Helvetica"/>
              </a:defRPr>
            </a:pPr>
            <a:r>
              <a:t>Q4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65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6032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Docker + compliance toolkit</a:t>
            </a:r>
            <a:br/>
            <a:r>
              <a:t>Target: legal, finance, healthcare</a:t>
            </a:r>
            <a:br/>
            <a:r>
              <a:t>20 enterprise contracts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463040"/>
            <a:ext cx="2743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Helvetica"/>
              </a:defRPr>
            </a:pPr>
            <a:r>
              <a:t>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965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56032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Helvetica"/>
              </a:defRPr>
            </a:pPr>
            <a:r>
              <a:t>API marketplace</a:t>
            </a:r>
            <a:br/>
            <a:r>
              <a:t>Team knowledge graphs</a:t>
            </a:r>
            <a:br/>
            <a:r>
              <a:t>Series 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52160"/>
            <a:ext cx="1069848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8978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8BDF8"/>
                </a:solidFill>
                <a:latin typeface="Helvetica"/>
              </a:defRPr>
            </a:pPr>
            <a:r>
              <a:t>Distribution:  Claude Code Marketplace  •  Homebrew  •  Product Hunt  •  Dev Communities  •  Direct Sales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828800"/>
            <a:ext cx="75895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0" y="210312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Aaditya Srivathsan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65176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8BDF8"/>
                </a:solidFill>
                <a:latin typeface="Helvetica"/>
              </a:defRPr>
            </a:pPr>
            <a:r>
              <a:t>Founder &amp; 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200400"/>
            <a:ext cx="7040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Helvetica"/>
              </a:defRPr>
            </a:pPr>
            <a:r>
              <a:t>Software engineer with deep expertise in systems programming (Rust, Python),</a:t>
            </a:r>
            <a:br/>
            <a:r>
              <a:t>ML/AI (reinforcement learning, JEPA, agent architectures), and distributed systems.</a:t>
            </a:r>
            <a:br/>
            <a:br/>
            <a:r>
              <a:t>Previously built AgentMem v2 — a self-improving agent memory system</a:t>
            </a:r>
            <a:br/>
            <a:r>
              <a:t>with knowledge graphs, bandit-based retrieval, and multi-agent reasoning.</a:t>
            </a:r>
            <a:br/>
            <a:br/>
            <a:r>
              <a:t>Passionate about privacy-first AI infrastructure.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Helvetica"/>
              </a:defRPr>
            </a:pPr>
            <a:r>
              <a:t>Seed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[Amount TBD]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Helvetica"/>
              </a:defRPr>
            </a:pPr>
            <a:r>
              <a:t>Use of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Helvetica"/>
              </a:defRPr>
            </a:pPr>
            <a:r>
              <a:t>Engineering: 60%</a:t>
            </a:r>
            <a:br/>
            <a:r>
              <a:t>Go-to-Market: 25%</a:t>
            </a:r>
            <a:br/>
            <a:r>
              <a:t>Operations: 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Helvetica"/>
              </a:defRPr>
            </a:pPr>
            <a:r>
              <a:t>Key Milestones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Helvetica"/>
              </a:defRPr>
              <a:buChar char="•"/>
            </a:pPr>
            <a:r>
              <a:t>50,000 consumer users within 6 months of launch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Helvetica"/>
              </a:defRPr>
              <a:buChar char="•"/>
            </a:pPr>
            <a:r>
              <a:t>20 enterprise contracts within 12 months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Helvetica"/>
              </a:defRPr>
              <a:buChar char="•"/>
            </a:pPr>
            <a:r>
              <a:t>Demonstrated RL-based retrieval improvement (published benchmarks)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Helvetica"/>
              </a:defRPr>
              <a:buChar char="•"/>
            </a:pPr>
            <a:r>
              <a:t>Series A readiness by Q1 2027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3657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Helvetica"/>
              </a:defRPr>
            </a:pPr>
            <a:r>
              <a:t>TraceMind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8BDF8"/>
                </a:solidFill>
                <a:latin typeface="Helvetica"/>
              </a:defRPr>
            </a:pPr>
            <a:r>
              <a:t>Your AI finally remembers.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Helvetica"/>
              </a:defRPr>
            </a:pPr>
            <a:r>
              <a:t>Local. Private. Auditable. Self-improving.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Helvetica"/>
              </a:defRPr>
            </a:pPr>
            <a:r>
              <a:t>aaditya@tracemind.ai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