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36576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Helvetica"/>
              </a:defRPr>
            </a:pPr>
            <a:r>
              <a:t>TraceMind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38BDF8"/>
                </a:solidFill>
                <a:latin typeface="Helvetica"/>
              </a:defRPr>
            </a:pPr>
            <a:r>
              <a:t>The Memory OS for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Helvetica"/>
              </a:defRPr>
            </a:pPr>
            <a:r>
              <a:t>Your AI finally remembers. Locally. Privately. Auditably.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Helvetica"/>
              </a:defRPr>
            </a:pPr>
            <a:r>
              <a:t>Aaditya Srivathsan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3619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Helvetica"/>
              </a:defRPr>
            </a:pPr>
            <a:r>
              <a:t>Stateless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3619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Every session starts from zero. Claude Code rediscovers your codebase every single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10698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420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Helvetica"/>
              </a:defRPr>
            </a:pPr>
            <a:r>
              <a:t>Endless Repetition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4203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Users repeat preferences, context, and decisions to AI tools hundreds of times.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698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547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Helvetica"/>
              </a:defRPr>
            </a:pPr>
            <a:r>
              <a:t>No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54787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In regulated environments, there is zero accountability for AI-assisted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10698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5371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Helvetica"/>
              </a:defRPr>
            </a:pPr>
            <a:r>
              <a:t>Cloud Lock-in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55371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Existing memory solutions (mem0, Zep) require sending private data to third-party servers.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698480" cy="868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4A3B8"/>
                </a:solidFill>
                <a:latin typeface="Helvetica"/>
              </a:defRPr>
            </a:pPr>
            <a:r>
              <a:t>Blind Recording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559552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Rewind/Limitless record screens but build no structured understanding.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Helvetica"/>
              </a:defRPr>
            </a:pPr>
            <a:r>
              <a:t>TraceMind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Helvetica"/>
              </a:defRPr>
            </a:pPr>
            <a:r>
              <a:t>A local-only memory OS that makes AI remember, learn, and explain.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7432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0116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34640"/>
            <a:ext cx="173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Watches your browser, Claude Code, clipboard—with explicit consent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011680"/>
            <a:ext cx="20116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194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834640"/>
            <a:ext cx="173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Builds entity graphs and semantic clusters,</a:t>
            </a:r>
            <a:br/>
            <a:r>
              <a:t>not raw recordings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2011680"/>
            <a:ext cx="20116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2194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834640"/>
            <a:ext cx="173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RL-based policy that improves retrieval</a:t>
            </a:r>
            <a:br/>
            <a:r>
              <a:t>over time from your feedback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199" y="2011680"/>
            <a:ext cx="20116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59" y="2194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59" y="2834640"/>
            <a:ext cx="173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Full Merkle-chain trace for every</a:t>
            </a:r>
            <a:br/>
            <a:r>
              <a:t>AI decision. Deterministic replay.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2011680"/>
            <a:ext cx="201168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945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737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100% on-device. No cloud. No telemetry.</a:t>
            </a:r>
            <a:br/>
            <a:r>
              <a:t>Your data never leaves your machine.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Helvetica"/>
              </a:defRPr>
            </a:pPr>
            <a:r>
              <a:t>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Browser, clipboard,</a:t>
            </a:r>
            <a:br/>
            <a:r>
              <a:t>Claude Code 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79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4A3B8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9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Helvetica"/>
              </a:defRPr>
            </a:pPr>
            <a:r>
              <a:t>Canonicalize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Entity extraction,</a:t>
            </a:r>
            <a:br/>
            <a:r>
              <a:t>triple 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4A3B8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Helvetica"/>
              </a:defRPr>
            </a:pPr>
            <a:r>
              <a:t>Govern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PII filter, schema</a:t>
            </a:r>
            <a:br/>
            <a:r>
              <a:t>validation, user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4A3B8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Helvetica"/>
              </a:defRPr>
            </a:pPr>
            <a:r>
              <a:t>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Graph + vectors +</a:t>
            </a:r>
            <a:br/>
            <a:r>
              <a:t>clusters + traces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4A3B8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2D3EE"/>
                </a:solidFill>
                <a:latin typeface="Helvetica"/>
              </a:defRPr>
            </a:pPr>
            <a:r>
              <a:t>Retrieve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3-phase recall</a:t>
            </a:r>
            <a:br/>
            <a:r>
              <a:t>with bounded budget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2560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4A3B8"/>
                </a:solidFill>
                <a:latin typeface="Helvetica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47120" y="2011680"/>
            <a:ext cx="155448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0" y="2148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Helvetica"/>
              </a:defRPr>
            </a:pPr>
            <a:r>
              <a:t>Learn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265176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Helvetica"/>
              </a:defRPr>
            </a:pPr>
            <a:r>
              <a:t>UCB bandit → RL</a:t>
            </a:r>
            <a:br/>
            <a:r>
              <a:t>policy from trajectories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846320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8BDF8"/>
                </a:solidFill>
                <a:latin typeface="Helvetica"/>
              </a:defRPr>
            </a:pPr>
            <a:r>
              <a:t>All on-device  •  Rust core  •  &lt;200MB RAM  •  &lt;250MB install  •  macOS / Windows / Linux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Claude Code + TraceMind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  <a:latin typeface="Helvetica"/>
              </a:defRPr>
            </a:pPr>
            <a:r>
              <a:t>Today: Stateless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  <a:latin typeface="Helvetica"/>
              </a:defRPr>
              <a:buChar char="•"/>
            </a:pPr>
            <a:r>
              <a:t>Forgets everything between sessions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  <a:latin typeface="Helvetica"/>
              </a:defRPr>
              <a:buChar char="•"/>
            </a:pPr>
            <a:r>
              <a:t>Rediscovers your codebase every time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  <a:latin typeface="Helvetica"/>
              </a:defRPr>
              <a:buChar char="•"/>
            </a:pPr>
            <a:r>
              <a:t>Can't learn from past mistakes</a:t>
            </a:r>
          </a:p>
          <a:p>
            <a:pPr>
              <a:spcAft>
                <a:spcPts val="800"/>
              </a:spcAft>
              <a:defRPr sz="1600">
                <a:solidFill>
                  <a:srgbClr val="94A3B8"/>
                </a:solidFill>
                <a:latin typeface="Helvetica"/>
              </a:defRPr>
              <a:buChar char="•"/>
            </a:pPr>
            <a:r>
              <a:t>No audit trail of AI code decisions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572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Helvetica"/>
              </a:defRPr>
            </a:pPr>
            <a:r>
              <a:t>With TraceMind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389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Session 1: generic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Session 10: knows your naming conventions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Session 50: knows what succeeded / failed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Session 200: deep project knowledge graph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MCP server + passive hooks = bidirectional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Why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65176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Helvetica"/>
              </a:defRPr>
            </a:pPr>
            <a:r>
              <a:t>86%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of enterprises will deploy</a:t>
            </a:r>
            <a:br/>
            <a:r>
              <a:t>AI agents by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Helvetica"/>
              </a:defRPr>
            </a:pPr>
            <a:r>
              <a:t>Gartner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463040"/>
            <a:ext cx="265176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Helvetica"/>
              </a:defRPr>
            </a:pPr>
            <a:r>
              <a:t>€35M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560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max fines under EU AI Act</a:t>
            </a:r>
            <a:br/>
            <a:r>
              <a:t>for non-compliance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Helvetica"/>
              </a:defRPr>
            </a:pPr>
            <a:r>
              <a:t>EU AI Act 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265176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Helvetica"/>
              </a:defRPr>
            </a:pPr>
            <a:r>
              <a:t>$21.1B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Explainable AI market</a:t>
            </a:r>
            <a:br/>
            <a:r>
              <a:t>by 2030 (from $7.8B)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Helvetica"/>
              </a:defRPr>
            </a:pPr>
            <a:r>
              <a:t>Grand View 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65176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Helvetica"/>
              </a:defRPr>
            </a:pPr>
            <a:r>
              <a:t>$5.8B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AI Governance market</a:t>
            </a:r>
            <a:br/>
            <a:r>
              <a:t>by 2029 (45% CAGR)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840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Helvetica"/>
              </a:defRPr>
            </a:pPr>
            <a:r>
              <a:t>MarketsAndMarkets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1206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BBF24"/>
                </a:solidFill>
                <a:latin typeface="Helvetica"/>
              </a:defRPr>
            </a:pPr>
            <a:r>
              <a:t>Microsoft Recall backlash proved: users WANT memory but DEMAND privacy.</a:t>
            </a:r>
            <a:br/>
            <a:r>
              <a:t>No product combines: local + structured + learning + auditable. Until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Product Moments That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Helvetica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5448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“It remembered what I browsed 2 weeks ago</a:t>
            </a:r>
            <a:br/>
            <a:r>
              <a:t>and surfaced it in Claude Code.”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ADE80"/>
                </a:solidFill>
                <a:latin typeface="Helvetica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“Show me WHY my AI made that decision.”</a:t>
            </a:r>
            <a:br/>
            <a:r>
              <a:t>→ Full trace replay with every memory 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2D3EE"/>
                </a:solidFill>
                <a:latin typeface="Helvetica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1480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“After 50 sessions, retrieval quality</a:t>
            </a:r>
            <a:br/>
            <a:r>
              <a:t>measurably improved.”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19"/>
            <a:ext cx="106984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440679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BBF24"/>
                </a:solidFill>
                <a:latin typeface="Helvetica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394959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“All my data is on MY machine.</a:t>
            </a:r>
            <a:br/>
            <a:r>
              <a:t>I can see exactly what it knows.”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Helvetica"/>
              </a:defRPr>
            </a:pPr>
            <a: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38BDF8"/>
                </a:solidFill>
                <a:latin typeface="Helvetica"/>
              </a:defRPr>
            </a:pPr>
            <a:r>
              <a:t>$80B+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AI Governance ($5.8B) + Legal AI ($3.9B)</a:t>
            </a:r>
            <a:br/>
            <a:r>
              <a:t>+ Compliance Software ($75B by 2032)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45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Helvetica"/>
              </a:defRPr>
            </a:pPr>
            <a: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2D3EE"/>
                </a:solidFill>
                <a:latin typeface="Helvetica"/>
              </a:defRPr>
            </a:pPr>
            <a:r>
              <a:t>$8B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Developer tools + regulated enterprise</a:t>
            </a:r>
            <a:br/>
            <a:r>
              <a:t>AI users in North America &amp; Europe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463040"/>
            <a:ext cx="3474720" cy="2743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45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Helvetica"/>
              </a:defRPr>
            </a:pPr>
            <a:r>
              <a:t>SOM (Y1)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4ADE80"/>
                </a:solidFill>
                <a:latin typeface="Helvetica"/>
              </a:defRPr>
            </a:pPr>
            <a:r>
              <a:t>$7M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50K consumers @ $10/mo</a:t>
            </a:r>
            <a:br/>
            <a:r>
              <a:t>+ 20 enterprise @ $50K/yr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BBF24"/>
                </a:solidFill>
                <a:latin typeface="Helvetica"/>
              </a:defRPr>
            </a:pPr>
            <a:r>
              <a:t>Wedge:  Consumer desktop app  →  Claude Code power users  →  Enterprise governance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28600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Local-Only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8620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Structured</a:t>
            </a:r>
            <a:br/>
            <a:r>
              <a:t>Memory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59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79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Audit</a:t>
            </a:r>
            <a:br/>
            <a:r>
              <a:t>Trail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Self-</a:t>
            </a:r>
            <a:br/>
            <a:r>
              <a:t>Improving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Lightweight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1371600"/>
            <a:ext cx="1463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04120" y="1417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Open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286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ADE80"/>
                </a:solidFill>
                <a:latin typeface="Helvetica"/>
              </a:defRPr>
            </a:pPr>
            <a:r>
              <a:t>TraceMind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496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59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2194560"/>
            <a:ext cx="1463040" cy="685800"/>
          </a:xfrm>
          <a:prstGeom prst="roundRect">
            <a:avLst/>
          </a:prstGeom>
          <a:solidFill>
            <a:srgbClr val="0D3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226771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1089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2E8F0"/>
                </a:solidFill>
                <a:latin typeface="Helvetica"/>
              </a:defRPr>
            </a:pPr>
            <a:r>
              <a:t>Rewind / Limitless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86000" y="301752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31720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4048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86200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9496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5159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9640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0" y="301752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20" y="30906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384048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931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2E8F0"/>
                </a:solidFill>
                <a:latin typeface="Helvetica"/>
              </a:defRPr>
            </a:pPr>
            <a:r>
              <a:t>mem0 / Zep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86000" y="384048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31720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40480" y="384048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86200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94960" y="384048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40680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49440" y="384048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95159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03920" y="384048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9640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58400" y="384048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04120" y="391363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31520" y="466344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47548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2E8F0"/>
                </a:solidFill>
                <a:latin typeface="Helvetica"/>
              </a:defRPr>
            </a:pPr>
            <a:r>
              <a:t>Apple Intelligence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286000" y="466344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331720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0480" y="466344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86200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94960" y="466344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80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949440" y="466344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95159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503920" y="466344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9640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058400" y="466344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20" y="4736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5577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2E8F0"/>
                </a:solidFill>
                <a:latin typeface="Helvetica"/>
              </a:defRPr>
            </a:pPr>
            <a:r>
              <a:t>Microsoft Recall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286000" y="5486400"/>
            <a:ext cx="146304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31720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ADE80"/>
                </a:solidFill>
                <a:latin typeface="Helvetica"/>
              </a:defRPr>
            </a:pPr>
            <a:r>
              <a:t>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84048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86200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9496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40680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94944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59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0392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49640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058400" y="5486400"/>
            <a:ext cx="1463040" cy="685800"/>
          </a:xfrm>
          <a:prstGeom prst="roundRect">
            <a:avLst/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04120" y="555955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4B5563"/>
                </a:solidFill>
                <a:latin typeface="Helvetica"/>
              </a:defRPr>
            </a:pPr>
            <a:r>
              <a:t>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Technical Moat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Rust Data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5x less RAM than Python.</a:t>
            </a:r>
            <a:br/>
            <a:r>
              <a:t>No GC pauses. &lt;50MB binary.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46304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  <a:latin typeface="Helvetica"/>
              </a:defRPr>
            </a:pPr>
            <a:r>
              <a:t>Embedded DBs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Kuzu (graph) + LanceDB (vector).</a:t>
            </a:r>
            <a:br/>
            <a:r>
              <a:t>No server processes. &lt;200MB total.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46304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Helvetica"/>
              </a:defRPr>
            </a:pPr>
            <a:r>
              <a:t>Merkle Audit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Cryptographic hash chain.</a:t>
            </a:r>
            <a:br/>
            <a:r>
              <a:t>Tamper-evident. Forensic-grade.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Helvetica"/>
              </a:defRPr>
            </a:pPr>
            <a:r>
              <a:t>RL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26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Memory-R1 + Graph-R1 trajectories.</a:t>
            </a:r>
            <a:br/>
            <a:r>
              <a:t>Bandit → policy net → GRPO.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59" y="384048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8BDF8"/>
                </a:solidFill>
                <a:latin typeface="Helvetica"/>
              </a:defRPr>
            </a:pPr>
            <a:r>
              <a:t>FSM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526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Deterministic state machine.</a:t>
            </a:r>
            <a:br/>
            <a:r>
              <a:t>Bitwise reproducible decisions.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840480"/>
            <a:ext cx="347472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977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D3EE"/>
                </a:solidFill>
                <a:latin typeface="Helvetica"/>
              </a:defRPr>
            </a:pPr>
            <a:r>
              <a:t>Cross-Platform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5262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Tauri: one codebase.</a:t>
            </a:r>
            <a:br/>
            <a:r>
              <a:t>macOS, Windows, Linux.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94A3B8"/>
                </a:solidFill>
                <a:latin typeface="Helvetica"/>
              </a:defRPr>
            </a:pPr>
            <a:r>
              <a:t>Free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Local memory (30-day window)</a:t>
            </a:r>
            <a:br/>
            <a:r>
              <a:t>Basic graph visualization</a:t>
            </a:r>
            <a:br/>
            <a:r>
              <a:t>CLI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371600"/>
            <a:ext cx="34747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8BDF8"/>
                </a:solidFill>
                <a:latin typeface="Helvetica"/>
              </a:defRPr>
            </a:pPr>
            <a:r>
              <a:t>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$10/mo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Unlimited memory retention</a:t>
            </a:r>
            <a:br/>
            <a:r>
              <a:t>RL learning + trajectory training</a:t>
            </a:r>
            <a:br/>
            <a:r>
              <a:t>Claude Code MCP integration</a:t>
            </a:r>
            <a:br/>
            <a:r>
              <a:t>Chrome extension</a:t>
            </a:r>
            <a:br/>
            <a:r>
              <a:t>Full audit trail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371600"/>
            <a:ext cx="3474720" cy="47548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ADE80"/>
                </a:solidFill>
                <a:latin typeface="Helvetica"/>
              </a:defRPr>
            </a:pPr>
            <a:r>
              <a:t>Enterprise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$50–200K/yr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Docker deployment</a:t>
            </a:r>
            <a:br/>
            <a:r>
              <a:t>Team knowledge graphs</a:t>
            </a:r>
            <a:br/>
            <a:r>
              <a:t>SOC2 compliance toolkit</a:t>
            </a:r>
            <a:br/>
            <a:r>
              <a:t>Policy-as-Code engine</a:t>
            </a:r>
            <a:br/>
            <a:r>
              <a:t>Merkle audit + export</a:t>
            </a:r>
            <a:br/>
            <a:r>
              <a:t>SSO / RBAC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Go-to-Market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Helvetica"/>
              </a:defRPr>
            </a:pPr>
            <a:r>
              <a:t>Q2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Helvetica"/>
              </a:defRPr>
            </a:pPr>
            <a:r>
              <a:t>Developer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Desktop app + Claude Code MCP</a:t>
            </a:r>
            <a:br/>
            <a:r>
              <a:t>Target: developers, power users</a:t>
            </a:r>
            <a:br/>
            <a:r>
              <a:t>Homebrew, Product Hunt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46304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D3EE"/>
                </a:solidFill>
                <a:latin typeface="Helvetica"/>
              </a:defRPr>
            </a:pPr>
            <a:r>
              <a:t>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Helvetica"/>
              </a:defRPr>
            </a:pPr>
            <a:r>
              <a:t>Consumer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56032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Chrome extension + marketing</a:t>
            </a:r>
            <a:br/>
            <a:r>
              <a:t>Target: 50K users</a:t>
            </a:r>
            <a:br/>
            <a:r>
              <a:t>Content marketing, community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Helvetica"/>
              </a:defRPr>
            </a:pPr>
            <a: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Helvetica"/>
              </a:defRPr>
            </a:pPr>
            <a:r>
              <a:t>Enterprise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6032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Docker + compliance toolkit</a:t>
            </a:r>
            <a:br/>
            <a:r>
              <a:t>Target: legal, finance, healthcare</a:t>
            </a:r>
            <a:br/>
            <a:r>
              <a:t>20 enterprise contracts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743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1600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Helvetica"/>
              </a:defRPr>
            </a:pPr>
            <a:r>
              <a:t>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Helvetica"/>
              </a:defRPr>
            </a:pPr>
            <a:r>
              <a:t>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560320"/>
            <a:ext cx="2468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Helvetica"/>
              </a:defRPr>
            </a:pPr>
            <a:r>
              <a:t>API marketplace</a:t>
            </a:r>
            <a:br/>
            <a:r>
              <a:t>Team knowledge graphs</a:t>
            </a:r>
            <a:br/>
            <a:r>
              <a:t>Series 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852160"/>
            <a:ext cx="1069848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8978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8BDF8"/>
                </a:solidFill>
                <a:latin typeface="Helvetica"/>
              </a:defRPr>
            </a:pPr>
            <a:r>
              <a:t>Distribution:  Claude Code Marketplace  •  Homebrew  •  Product Hunt  •  Dev Communities  •  Direct Sales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286000" y="1828800"/>
            <a:ext cx="75895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103120"/>
            <a:ext cx="7040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Aaditya Srivathsan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65176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8BDF8"/>
                </a:solidFill>
                <a:latin typeface="Helvetica"/>
              </a:defRPr>
            </a:pPr>
            <a:r>
              <a:t>Founder &amp; 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200400"/>
            <a:ext cx="7040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Helvetica"/>
              </a:defRPr>
            </a:pPr>
            <a:r>
              <a:t>Software engineer with deep expertise in systems programming (Rust, Python),</a:t>
            </a:r>
            <a:br/>
            <a:r>
              <a:t>ML/AI (reinforcement learning, JEPA, agent architectures), and distributed systems.</a:t>
            </a:r>
            <a:br/>
            <a:br/>
            <a:r>
              <a:t>Previously built AgentMem v2 — a self-improving agent memory system</a:t>
            </a:r>
            <a:br/>
            <a:r>
              <a:t>with knowledge graphs, bandit-based retrieval, and multi-agent reasoning.</a:t>
            </a:r>
            <a:br/>
            <a:br/>
            <a:r>
              <a:t>Passionate about privacy-first AI infrastructure.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Helvetica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Seed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[Amount TBD]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22860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Helvetica"/>
              </a:defRPr>
            </a:pPr>
            <a:r>
              <a:t>Use of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945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Engineering: 60%</a:t>
            </a:r>
            <a:br/>
            <a:r>
              <a:t>Go-to-Market: 25%</a:t>
            </a:r>
            <a:br/>
            <a:r>
              <a:t>Operations: 15%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698480" cy="20116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Helvetica"/>
              </a:defRPr>
            </a:pPr>
            <a:r>
              <a:t>Key Milestones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50,000 consumer users within 6 months of launch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20 enterprise contracts within 12 months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Demonstrated RL-based retrieval improvement (published benchmarks)</a:t>
            </a:r>
          </a:p>
          <a:p>
            <a:pPr>
              <a:spcAft>
                <a:spcPts val="800"/>
              </a:spcAft>
              <a:defRPr sz="1600">
                <a:solidFill>
                  <a:srgbClr val="E2E8F0"/>
                </a:solidFill>
                <a:latin typeface="Helvetica"/>
              </a:defRPr>
              <a:buChar char="•"/>
            </a:pPr>
            <a:r>
              <a:t>Series A readiness by Q1 2027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3657600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Helvetica"/>
              </a:defRPr>
            </a:pPr>
            <a:r>
              <a:t>TraceMind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38BDF8"/>
                </a:solidFill>
                <a:latin typeface="Helvetica"/>
              </a:defRPr>
            </a:pPr>
            <a:r>
              <a:t>Your AI finally remembers.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Helvetica"/>
              </a:defRPr>
            </a:pPr>
            <a:r>
              <a:t>Local. Private. Auditable. Self-improving.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2E8F0"/>
                </a:solidFill>
                <a:latin typeface="Helvetica"/>
              </a:defRPr>
            </a:pPr>
            <a:r>
              <a:t>aaditya@tracemind.ai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