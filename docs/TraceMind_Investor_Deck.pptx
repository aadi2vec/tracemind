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EA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6EA8FE"/>
                </a:solidFill>
                <a:latin typeface="Calibri"/>
              </a:rPr>
              <a:t>TRACEMIND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97280"/>
            <a:ext cx="105156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 i="0">
                <a:solidFill>
                  <a:srgbClr val="EAECEF"/>
                </a:solidFill>
                <a:latin typeface="Calibri"/>
              </a:rPr>
              <a:t>A local-only memory OS
for humans and AI agents.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10896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1">
                <a:solidFill>
                  <a:srgbClr val="EAECEF"/>
                </a:solidFill>
                <a:latin typeface="Calibri"/>
              </a:rPr>
              <a:t>Captures intent. Predicts outcomes. Earns trust on-device.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93192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9AA0A6"/>
                </a:solidFill>
                <a:latin typeface="Calibri"/>
              </a:rPr>
              <a:t>Cloud memory is the default. We're betting privacy is the moat.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5120640"/>
            <a:ext cx="10515600" cy="1005840"/>
          </a:xfrm>
          <a:prstGeom prst="rect">
            <a:avLst/>
          </a:prstGeom>
          <a:solidFill>
            <a:srgbClr val="1E2126"/>
          </a:solidFill>
          <a:ln w="6350">
            <a:solidFill>
              <a:srgbClr val="3337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5257800"/>
            <a:ext cx="2606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6EA8FE"/>
                </a:solidFill>
                <a:latin typeface="Calibri"/>
              </a:rPr>
              <a:t>FOR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5577840"/>
            <a:ext cx="2606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EAECEF"/>
                </a:solidFill>
                <a:latin typeface="Calibri"/>
              </a:rPr>
              <a:t>a friend who's looking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80" y="5257800"/>
            <a:ext cx="2606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6EA8FE"/>
                </a:solidFill>
                <a:latin typeface="Calibri"/>
              </a:rPr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80" y="5577840"/>
            <a:ext cx="2606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EAECEF"/>
                </a:solidFill>
                <a:latin typeface="Calibri"/>
              </a:rPr>
              <a:t>2026-05-06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5257800"/>
            <a:ext cx="2606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6EA8FE"/>
                </a:solidFill>
                <a:latin typeface="Calibri"/>
              </a:rPr>
              <a:t>STATUS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5577840"/>
            <a:ext cx="2606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EAECEF"/>
                </a:solidFill>
                <a:latin typeface="Calibri"/>
              </a:rPr>
              <a:t>Pre-seed · no raise yet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23960" y="5257800"/>
            <a:ext cx="2606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6EA8FE"/>
                </a:solidFill>
                <a:latin typeface="Calibri"/>
              </a:rPr>
              <a:t>ASK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23960" y="5577840"/>
            <a:ext cx="2606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EAECEF"/>
                </a:solidFill>
                <a:latin typeface="Calibri"/>
              </a:rPr>
              <a:t>thinking time + intros, not a check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9AA0A6"/>
                </a:solidFill>
                <a:latin typeface="Calibri"/>
              </a:rPr>
              <a:t>— Aaditya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1094415" cy="8000"/>
          </a:xfrm>
          <a:prstGeom prst="rect">
            <a:avLst/>
          </a:prstGeom>
          <a:solidFill>
            <a:srgbClr val="333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9AA0A6"/>
                </a:solidFill>
                <a:latin typeface="Calibri"/>
              </a:rPr>
              <a:t>TRACEMIND  / 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14255" y="2286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9AA0A6"/>
                </a:solidFill>
                <a:latin typeface="Calibri"/>
              </a:rPr>
              <a:t>02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10944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6EA8FE"/>
                </a:solidFill>
                <a:latin typeface="Calibri"/>
              </a:rPr>
              <a:t>THE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80160"/>
            <a:ext cx="1109441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EAECEF"/>
                </a:solidFill>
                <a:latin typeface="Calibri"/>
              </a:rPr>
              <a:t>Every AI assistant forgets. The fixes ship your data to the cloud.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31720"/>
            <a:ext cx="11094415" cy="21945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35000"/>
              </a:lnSpc>
            </a:pPr>
            <a:r>
              <a:rPr sz="1700">
                <a:solidFill>
                  <a:srgbClr val="EAECEF"/>
                </a:solidFill>
                <a:latin typeface="Calibri"/>
              </a:rPr>
              <a:t>Mem0, Honcho, Letta, Zep, SuperLocalMemory all solve forgetting by sending your data to their cloud. That's a fine MVP. It's a terrible long-term position once </a:t>
            </a:r>
            <a:r>
              <a:rPr sz="1700" i="1" b="1">
                <a:solidFill>
                  <a:srgbClr val="6EA8FE"/>
                </a:solidFill>
                <a:latin typeface="Calibri"/>
              </a:rPr>
              <a:t>memory</a:t>
            </a:r>
            <a:r>
              <a:rPr sz="1700">
                <a:solidFill>
                  <a:srgbClr val="EAECEF"/>
                </a:solidFill>
                <a:latin typeface="Calibri"/>
              </a:rPr>
              <a:t> becomes the most sensitive surface in your digital life — meeting notes, intents, decisions, side comments, clipboard. The data moat goes the wrong direction.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4754880"/>
            <a:ext cx="11094415" cy="1188720"/>
          </a:xfrm>
          <a:prstGeom prst="rect">
            <a:avLst/>
          </a:prstGeom>
          <a:solidFill>
            <a:srgbClr val="1E2126"/>
          </a:solidFill>
          <a:ln w="6350">
            <a:solidFill>
              <a:srgbClr val="3337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4754880"/>
            <a:ext cx="73152" cy="1188720"/>
          </a:xfrm>
          <a:prstGeom prst="rect">
            <a:avLst/>
          </a:prstGeom>
          <a:solidFill>
            <a:srgbClr val="6EA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489204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6EA8FE"/>
                </a:solidFill>
                <a:latin typeface="Calibri"/>
              </a:rPr>
              <a:t>THE OPENING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5166360"/>
            <a:ext cx="1063721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EAECEF"/>
                </a:solidFill>
                <a:latin typeface="Calibri"/>
              </a:rPr>
              <a:t>The user is already on a powerful machine. The right answer is to build the brain there — and only there.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9AA0A6"/>
                </a:solidFill>
                <a:latin typeface="Calibri"/>
              </a:rPr>
              <a:t>local-only · pre-seed · 2026-05-06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1094415" cy="8000"/>
          </a:xfrm>
          <a:prstGeom prst="rect">
            <a:avLst/>
          </a:prstGeom>
          <a:solidFill>
            <a:srgbClr val="333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9AA0A6"/>
                </a:solidFill>
                <a:latin typeface="Calibri"/>
              </a:rPr>
              <a:t>TRACEMIND  /  OUR WEDGE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14255" y="2286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9AA0A6"/>
                </a:solidFill>
                <a:latin typeface="Calibri"/>
              </a:rPr>
              <a:t>03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10944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6EA8FE"/>
                </a:solidFill>
                <a:latin typeface="Calibri"/>
              </a:rPr>
              <a:t>OUR WEDGE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80160"/>
            <a:ext cx="1109441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EAECEF"/>
                </a:solidFill>
                <a:latin typeface="Calibri"/>
              </a:rPr>
              <a:t>Not a memory database. A system of intents.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286000"/>
            <a:ext cx="1109441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EAECEF"/>
                </a:solidFill>
                <a:latin typeface="Calibri"/>
              </a:rPr>
              <a:t>The primitive is a Commitment — a recorded statement of intent or decision with metadata you can predict over later.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971800"/>
            <a:ext cx="6035040" cy="2103120"/>
          </a:xfrm>
          <a:prstGeom prst="rect">
            <a:avLst/>
          </a:prstGeom>
          <a:solidFill>
            <a:srgbClr val="1E2126"/>
          </a:solidFill>
          <a:ln w="6350">
            <a:solidFill>
              <a:srgbClr val="3337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108960"/>
            <a:ext cx="566928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>
                <a:solidFill>
                  <a:srgbClr val="EAECEF"/>
                </a:solidFill>
                <a:latin typeface="Menlo"/>
              </a:rPr>
              <a:t>kind        intent | decision | hypothesis</a:t>
            </a:r>
          </a:p>
          <a:p>
            <a:pPr algn="l"/>
            <a:r>
              <a:rPr sz="1400">
                <a:solidFill>
                  <a:srgbClr val="EAECEF"/>
                </a:solidFill>
                <a:latin typeface="Menlo"/>
              </a:rPr>
              <a:t>stakes      low | medium | high | reversible</a:t>
            </a:r>
          </a:p>
          <a:p>
            <a:pPr algn="l"/>
            <a:r>
              <a:rPr sz="1400">
                <a:solidFill>
                  <a:srgbClr val="EAECEF"/>
                </a:solidFill>
                <a:latin typeface="Menlo"/>
              </a:rPr>
              <a:t>horizon     when this should resolve by</a:t>
            </a:r>
          </a:p>
          <a:p>
            <a:pPr algn="l"/>
            <a:r>
              <a:rPr sz="1400">
                <a:solidFill>
                  <a:srgbClr val="EAECEF"/>
                </a:solidFill>
                <a:latin typeface="Menlo"/>
              </a:rPr>
              <a:t>expected    what success looks like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2971800"/>
            <a:ext cx="469361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6EA8FE"/>
                </a:solidFill>
                <a:latin typeface="Calibri"/>
              </a:rPr>
              <a:t>WHY THIS IS THE WEDGE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0" y="3337560"/>
            <a:ext cx="4693615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6EA8FE"/>
                </a:solidFill>
                <a:latin typeface="Calibri"/>
              </a:rPr>
              <a:t>•  </a:t>
            </a:r>
            <a:r>
              <a:rPr sz="1400">
                <a:solidFill>
                  <a:srgbClr val="EAECEF"/>
                </a:solidFill>
                <a:latin typeface="Calibri"/>
              </a:rPr>
              <a:t>You commit. Time passes. You resolve. Polarity → training data.</a:t>
            </a:r>
          </a:p>
          <a:p>
            <a:pPr algn="l">
              <a:lnSpc>
                <a:spcPct val="125000"/>
              </a:lnSpc>
              <a:spcBef>
                <a:spcPts val="600"/>
              </a:spcBef>
            </a:pPr>
            <a:r>
              <a:rPr sz="1400" b="1">
                <a:solidFill>
                  <a:srgbClr val="6EA8FE"/>
                </a:solidFill>
                <a:latin typeface="Calibri"/>
              </a:rPr>
              <a:t>•  </a:t>
            </a:r>
            <a:r>
              <a:rPr sz="1400">
                <a:solidFill>
                  <a:srgbClr val="EAECEF"/>
                </a:solidFill>
                <a:latin typeface="Calibri"/>
              </a:rPr>
              <a:t>Notes apps are saturated. Decision-tracking with a personal predictive model is empty.</a:t>
            </a:r>
          </a:p>
          <a:p>
            <a:pPr algn="l">
              <a:lnSpc>
                <a:spcPct val="125000"/>
              </a:lnSpc>
              <a:spcBef>
                <a:spcPts val="600"/>
              </a:spcBef>
            </a:pPr>
            <a:r>
              <a:rPr sz="1400" b="1">
                <a:solidFill>
                  <a:srgbClr val="6EA8FE"/>
                </a:solidFill>
                <a:latin typeface="Calibri"/>
              </a:rPr>
              <a:t>•  </a:t>
            </a:r>
            <a:r>
              <a:rPr sz="1400">
                <a:solidFill>
                  <a:srgbClr val="EAECEF"/>
                </a:solidFill>
                <a:latin typeface="Calibri"/>
              </a:rPr>
              <a:t>Composes with any LLM — 21 tools over MCP.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44068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1">
                <a:solidFill>
                  <a:srgbClr val="9AA0A6"/>
                </a:solidFill>
                <a:latin typeface="Calibri"/>
              </a:rPr>
              <a:t>A personal world model that learns *your* track record over time.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9AA0A6"/>
                </a:solidFill>
                <a:latin typeface="Calibri"/>
              </a:rPr>
              <a:t>local-only · pre-seed · 2026-05-06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1094415" cy="8000"/>
          </a:xfrm>
          <a:prstGeom prst="rect">
            <a:avLst/>
          </a:prstGeom>
          <a:solidFill>
            <a:srgbClr val="333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9AA0A6"/>
                </a:solidFill>
                <a:latin typeface="Calibri"/>
              </a:rPr>
              <a:t>TRACEMIND  / 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14255" y="2286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9AA0A6"/>
                </a:solidFill>
                <a:latin typeface="Calibri"/>
              </a:rPr>
              <a:t>04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10944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6EA8FE"/>
                </a:solidFill>
                <a:latin typeface="Calibri"/>
              </a:rPr>
              <a:t>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80160"/>
            <a:ext cx="1109441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EAECEF"/>
                </a:solidFill>
                <a:latin typeface="Calibri"/>
              </a:rPr>
              <a:t>The brain in four layers — every byte on the user's machine.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331720"/>
            <a:ext cx="11094415" cy="777240"/>
          </a:xfrm>
          <a:prstGeom prst="rect">
            <a:avLst/>
          </a:prstGeom>
          <a:solidFill>
            <a:srgbClr val="1E2126"/>
          </a:solidFill>
          <a:ln w="6350">
            <a:solidFill>
              <a:srgbClr val="3337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331720"/>
            <a:ext cx="73152" cy="777240"/>
          </a:xfrm>
          <a:prstGeom prst="rect">
            <a:avLst/>
          </a:prstGeom>
          <a:solidFill>
            <a:srgbClr val="6EA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441448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6EA8FE"/>
                </a:solidFill>
                <a:latin typeface="Calibri"/>
              </a:rPr>
              <a:t>SENSORY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2496312"/>
            <a:ext cx="8808415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EAECEF"/>
                </a:solidFill>
                <a:latin typeface="Calibri"/>
              </a:rPr>
              <a:t>clipboard · shell · MCP intake (tm-capture daemon, always-on)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218688"/>
            <a:ext cx="11094415" cy="777240"/>
          </a:xfrm>
          <a:prstGeom prst="rect">
            <a:avLst/>
          </a:prstGeom>
          <a:solidFill>
            <a:srgbClr val="1E2126"/>
          </a:solidFill>
          <a:ln w="6350">
            <a:solidFill>
              <a:srgbClr val="3337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218688"/>
            <a:ext cx="73152" cy="777240"/>
          </a:xfrm>
          <a:prstGeom prst="rect">
            <a:avLst/>
          </a:prstGeom>
          <a:solidFill>
            <a:srgbClr val="6EA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328416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6EA8FE"/>
                </a:solidFill>
                <a:latin typeface="Calibri"/>
              </a:rPr>
              <a:t>MEMORY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3383280"/>
            <a:ext cx="8808415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EAECEF"/>
                </a:solidFill>
                <a:latin typeface="Calibri"/>
              </a:rPr>
              <a:t>6 layers — working · episodic · semantic · procedural · sensory · intent (SQLite, on-device)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105656"/>
            <a:ext cx="11094415" cy="777240"/>
          </a:xfrm>
          <a:prstGeom prst="rect">
            <a:avLst/>
          </a:prstGeom>
          <a:solidFill>
            <a:srgbClr val="1E2126"/>
          </a:solidFill>
          <a:ln w="6350">
            <a:solidFill>
              <a:srgbClr val="3337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4105656"/>
            <a:ext cx="73152" cy="777240"/>
          </a:xfrm>
          <a:prstGeom prst="rect">
            <a:avLst/>
          </a:prstGeom>
          <a:solidFill>
            <a:srgbClr val="6EA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215384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6EA8FE"/>
                </a:solidFill>
                <a:latin typeface="Calibri"/>
              </a:rPr>
              <a:t>COGNITION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4270248"/>
            <a:ext cx="8808415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EAECEF"/>
                </a:solidFill>
                <a:latin typeface="Calibri"/>
              </a:rPr>
              <a:t>10 ops — attention · recall · association · reasoning · consolidation · dreaming · pattern · synthesis · self-monitor · world model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992624"/>
            <a:ext cx="11094415" cy="777240"/>
          </a:xfrm>
          <a:prstGeom prst="rect">
            <a:avLst/>
          </a:prstGeom>
          <a:solidFill>
            <a:srgbClr val="1E2126"/>
          </a:solidFill>
          <a:ln w="6350">
            <a:solidFill>
              <a:srgbClr val="3337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4992624"/>
            <a:ext cx="73152" cy="777240"/>
          </a:xfrm>
          <a:prstGeom prst="rect">
            <a:avLst/>
          </a:prstGeom>
          <a:solidFill>
            <a:srgbClr val="6EA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5102352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6EA8FE"/>
                </a:solidFill>
                <a:latin typeface="Calibri"/>
              </a:rPr>
              <a:t>SURFACES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0" y="5157216"/>
            <a:ext cx="8808415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EAECEF"/>
                </a:solidFill>
                <a:latin typeface="Calibri"/>
              </a:rPr>
              <a:t>CLI · MCP server (21 tools) · capture daemon · Tauri desktop app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5971032"/>
            <a:ext cx="2682163" cy="777240"/>
          </a:xfrm>
          <a:prstGeom prst="rect">
            <a:avLst/>
          </a:prstGeom>
          <a:solidFill>
            <a:srgbClr val="1E2126"/>
          </a:solidFill>
          <a:ln w="6350">
            <a:solidFill>
              <a:srgbClr val="3337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6016752"/>
            <a:ext cx="268216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1" i="0">
                <a:solidFill>
                  <a:srgbClr val="6EA8FE"/>
                </a:solidFill>
                <a:latin typeface="Calibri"/>
              </a:rPr>
              <a:t>17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73952"/>
            <a:ext cx="268216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9AA0A6"/>
                </a:solidFill>
                <a:latin typeface="Calibri"/>
              </a:rPr>
              <a:t>Rust crates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349675" y="5971032"/>
            <a:ext cx="2682163" cy="777240"/>
          </a:xfrm>
          <a:prstGeom prst="rect">
            <a:avLst/>
          </a:prstGeom>
          <a:solidFill>
            <a:srgbClr val="1E2126"/>
          </a:solidFill>
          <a:ln w="6350">
            <a:solidFill>
              <a:srgbClr val="3337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349675" y="6016752"/>
            <a:ext cx="268216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1" i="0">
                <a:solidFill>
                  <a:srgbClr val="6EA8FE"/>
                </a:solidFill>
                <a:latin typeface="Calibri"/>
              </a:rPr>
              <a:t>~12k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49675" y="6473952"/>
            <a:ext cx="268216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9AA0A6"/>
                </a:solidFill>
                <a:latin typeface="Calibri"/>
              </a:rPr>
              <a:t>lines of code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50711" y="5971032"/>
            <a:ext cx="2682163" cy="777240"/>
          </a:xfrm>
          <a:prstGeom prst="rect">
            <a:avLst/>
          </a:prstGeom>
          <a:solidFill>
            <a:srgbClr val="1E2126"/>
          </a:solidFill>
          <a:ln w="6350">
            <a:solidFill>
              <a:srgbClr val="3337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50711" y="6016752"/>
            <a:ext cx="268216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1" i="0">
                <a:solidFill>
                  <a:srgbClr val="6EA8FE"/>
                </a:solidFill>
                <a:latin typeface="Calibri"/>
              </a:rPr>
              <a:t>163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50711" y="6473952"/>
            <a:ext cx="268216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9AA0A6"/>
                </a:solidFill>
                <a:latin typeface="Calibri"/>
              </a:rPr>
              <a:t>tests passing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951747" y="5971032"/>
            <a:ext cx="2682163" cy="777240"/>
          </a:xfrm>
          <a:prstGeom prst="rect">
            <a:avLst/>
          </a:prstGeom>
          <a:solidFill>
            <a:srgbClr val="1E2126"/>
          </a:solidFill>
          <a:ln w="6350">
            <a:solidFill>
              <a:srgbClr val="3337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51747" y="6016752"/>
            <a:ext cx="268216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1" i="0">
                <a:solidFill>
                  <a:srgbClr val="6EA8FE"/>
                </a:solidFill>
                <a:latin typeface="Calibri"/>
              </a:rPr>
              <a:t>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51747" y="6473952"/>
            <a:ext cx="268216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9AA0A6"/>
                </a:solidFill>
                <a:latin typeface="Calibri"/>
              </a:rPr>
              <a:t>network calls in request path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9AA0A6"/>
                </a:solidFill>
                <a:latin typeface="Calibri"/>
              </a:rPr>
              <a:t>All data in ~/.tracemind/  ·  the user can rm -rf it  ·  that's the contract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1094415" cy="8000"/>
          </a:xfrm>
          <a:prstGeom prst="rect">
            <a:avLst/>
          </a:prstGeom>
          <a:solidFill>
            <a:srgbClr val="333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9AA0A6"/>
                </a:solidFill>
                <a:latin typeface="Calibri"/>
              </a:rPr>
              <a:t>TRACEMIND  /  WHAT'S SHIPPED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14255" y="2286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9AA0A6"/>
                </a:solidFill>
                <a:latin typeface="Calibri"/>
              </a:rPr>
              <a:t>05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10944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6EA8FE"/>
                </a:solidFill>
                <a:latin typeface="Calibri"/>
              </a:rPr>
              <a:t>WHAT'S SHIPPED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80160"/>
            <a:ext cx="1109441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EAECEF"/>
                </a:solidFill>
                <a:latin typeface="Calibri"/>
              </a:rPr>
              <a:t>Five acts of the demo. All running on real data.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331720"/>
            <a:ext cx="5410047" cy="1600200"/>
          </a:xfrm>
          <a:prstGeom prst="rect">
            <a:avLst/>
          </a:prstGeom>
          <a:solidFill>
            <a:srgbClr val="1E2126"/>
          </a:solidFill>
          <a:ln w="6350">
            <a:solidFill>
              <a:srgbClr val="3337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468880"/>
            <a:ext cx="4952847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6EA8FE"/>
                </a:solidFill>
                <a:latin typeface="Calibri"/>
              </a:rPr>
              <a:t>ACT 1 · MEMORY PIPELINE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834640"/>
            <a:ext cx="4952847" cy="96012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>
                <a:solidFill>
                  <a:srgbClr val="6EA8FE"/>
                </a:solidFill>
                <a:latin typeface="Calibri"/>
              </a:rPr>
              <a:t>·  </a:t>
            </a:r>
            <a:r>
              <a:rPr sz="1300">
                <a:solidFill>
                  <a:srgbClr val="EAECEF"/>
                </a:solidFill>
                <a:latin typeface="Calibri"/>
              </a:rPr>
              <a:t>BGE-small ONNX embeddings (384-dim, on-device)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300">
                <a:solidFill>
                  <a:srgbClr val="6EA8FE"/>
                </a:solidFill>
                <a:latin typeface="Calibri"/>
              </a:rPr>
              <a:t>·  </a:t>
            </a:r>
            <a:r>
              <a:rPr sz="1300">
                <a:solidFill>
                  <a:srgbClr val="EAECEF"/>
                </a:solidFill>
                <a:latin typeface="Calibri"/>
              </a:rPr>
              <a:t>GLiNER NER · SQLite graph + vector store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300">
                <a:solidFill>
                  <a:srgbClr val="6EA8FE"/>
                </a:solidFill>
                <a:latin typeface="Calibri"/>
              </a:rPr>
              <a:t>·  </a:t>
            </a:r>
            <a:r>
              <a:rPr sz="1300">
                <a:solidFill>
                  <a:srgbClr val="EAECEF"/>
                </a:solidFill>
                <a:latin typeface="Calibri"/>
              </a:rPr>
              <a:t>Immutable trace log · ColBERT rerank auto-DL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3007" y="2331720"/>
            <a:ext cx="5410047" cy="1600200"/>
          </a:xfrm>
          <a:prstGeom prst="rect">
            <a:avLst/>
          </a:prstGeom>
          <a:solidFill>
            <a:srgbClr val="1E2126"/>
          </a:solidFill>
          <a:ln w="6350">
            <a:solidFill>
              <a:srgbClr val="3337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1607" y="2468880"/>
            <a:ext cx="4952847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6EA8FE"/>
                </a:solidFill>
                <a:latin typeface="Calibri"/>
              </a:rPr>
              <a:t>ACT 2 · INTENT SYSTEM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1607" y="2834640"/>
            <a:ext cx="4952847" cy="96012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>
                <a:solidFill>
                  <a:srgbClr val="6EA8FE"/>
                </a:solidFill>
                <a:latin typeface="Calibri"/>
              </a:rPr>
              <a:t>·  </a:t>
            </a:r>
            <a:r>
              <a:rPr sz="1300">
                <a:solidFill>
                  <a:srgbClr val="EAECEF"/>
                </a:solidFill>
                <a:latin typeface="Calibri"/>
              </a:rPr>
              <a:t>Commitment · Outcome · Anticipation types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300">
                <a:solidFill>
                  <a:srgbClr val="6EA8FE"/>
                </a:solidFill>
                <a:latin typeface="Calibri"/>
              </a:rPr>
              <a:t>·  </a:t>
            </a:r>
            <a:r>
              <a:rPr sz="1300">
                <a:solidFill>
                  <a:srgbClr val="EAECEF"/>
                </a:solidFill>
                <a:latin typeface="Calibri"/>
              </a:rPr>
              <a:t>tracemind commit / commitments / resolve / brief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300">
                <a:solidFill>
                  <a:srgbClr val="6EA8FE"/>
                </a:solidFill>
                <a:latin typeface="Calibri"/>
              </a:rPr>
              <a:t>·  </a:t>
            </a:r>
            <a:r>
              <a:rPr sz="1300">
                <a:solidFill>
                  <a:srgbClr val="EAECEF"/>
                </a:solidFill>
                <a:latin typeface="Calibri"/>
              </a:rPr>
              <a:t>MCP: memory_commit · memory_resolve · memory_brief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023360"/>
            <a:ext cx="5410047" cy="1600200"/>
          </a:xfrm>
          <a:prstGeom prst="rect">
            <a:avLst/>
          </a:prstGeom>
          <a:solidFill>
            <a:srgbClr val="1E2126"/>
          </a:solidFill>
          <a:ln w="6350">
            <a:solidFill>
              <a:srgbClr val="3337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4160520"/>
            <a:ext cx="4952847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6EA8FE"/>
                </a:solidFill>
                <a:latin typeface="Calibri"/>
              </a:rPr>
              <a:t>ACT 3–4 · WORLD MODEL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526280"/>
            <a:ext cx="4952847" cy="96012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>
                <a:solidFill>
                  <a:srgbClr val="6EA8FE"/>
                </a:solidFill>
                <a:latin typeface="Calibri"/>
              </a:rPr>
              <a:t>·  </a:t>
            </a:r>
            <a:r>
              <a:rPr sz="1300">
                <a:solidFill>
                  <a:srgbClr val="EAECEF"/>
                </a:solidFill>
                <a:latin typeface="Calibri"/>
              </a:rPr>
              <a:t>Logistic regression on 22-dim metadata features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300">
                <a:solidFill>
                  <a:srgbClr val="6EA8FE"/>
                </a:solidFill>
                <a:latin typeface="Calibri"/>
              </a:rPr>
              <a:t>·  </a:t>
            </a:r>
            <a:r>
              <a:rPr sz="1300">
                <a:solidFill>
                  <a:srgbClr val="EAECEF"/>
                </a:solidFill>
                <a:latin typeface="Calibri"/>
              </a:rPr>
              <a:t>Auto-retrains on every resolve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300">
                <a:solidFill>
                  <a:srgbClr val="6EA8FE"/>
                </a:solidFill>
                <a:latin typeface="Calibri"/>
              </a:rPr>
              <a:t>·  </a:t>
            </a:r>
            <a:r>
              <a:rPr sz="1300">
                <a:solidFill>
                  <a:srgbClr val="EAECEF"/>
                </a:solidFill>
                <a:latin typeface="Calibri"/>
              </a:rPr>
              <a:t>Calibration view goes silent when miscalibrated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33007" y="4023360"/>
            <a:ext cx="5410047" cy="1600200"/>
          </a:xfrm>
          <a:prstGeom prst="rect">
            <a:avLst/>
          </a:prstGeom>
          <a:solidFill>
            <a:srgbClr val="1E2126"/>
          </a:solidFill>
          <a:ln w="6350">
            <a:solidFill>
              <a:srgbClr val="3337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61607" y="4160520"/>
            <a:ext cx="4952847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6EA8FE"/>
                </a:solidFill>
                <a:latin typeface="Calibri"/>
              </a:rPr>
              <a:t>ACT 5 · INTEGRATION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61607" y="4526280"/>
            <a:ext cx="4952847" cy="96012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>
                <a:solidFill>
                  <a:srgbClr val="6EA8FE"/>
                </a:solidFill>
                <a:latin typeface="Calibri"/>
              </a:rPr>
              <a:t>·  </a:t>
            </a:r>
            <a:r>
              <a:rPr sz="1300">
                <a:solidFill>
                  <a:srgbClr val="EAECEF"/>
                </a:solidFill>
                <a:latin typeface="Calibri"/>
              </a:rPr>
              <a:t>MCP server · 21 JSON-RPC tools · stdio-only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300">
                <a:solidFill>
                  <a:srgbClr val="6EA8FE"/>
                </a:solidFill>
                <a:latin typeface="Calibri"/>
              </a:rPr>
              <a:t>·  </a:t>
            </a:r>
            <a:r>
              <a:rPr sz="1300">
                <a:solidFill>
                  <a:srgbClr val="EAECEF"/>
                </a:solidFill>
                <a:latin typeface="Calibri"/>
              </a:rPr>
              <a:t>No network · no daemons in the path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300">
                <a:solidFill>
                  <a:srgbClr val="6EA8FE"/>
                </a:solidFill>
                <a:latin typeface="Calibri"/>
              </a:rPr>
              <a:t>·  </a:t>
            </a:r>
            <a:r>
              <a:rPr sz="1300">
                <a:solidFill>
                  <a:srgbClr val="EAECEF"/>
                </a:solidFill>
                <a:latin typeface="Calibri"/>
              </a:rPr>
              <a:t>Plugs into Claude Code, Cursor, custom agents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5760720"/>
            <a:ext cx="11094415" cy="640080"/>
          </a:xfrm>
          <a:prstGeom prst="rect">
            <a:avLst/>
          </a:prstGeom>
          <a:solidFill>
            <a:srgbClr val="1E2126"/>
          </a:solidFill>
          <a:ln w="6350">
            <a:solidFill>
              <a:srgbClr val="3337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5760720"/>
            <a:ext cx="73152" cy="640080"/>
          </a:xfrm>
          <a:prstGeom prst="rect">
            <a:avLst/>
          </a:prstGeom>
          <a:solidFill>
            <a:srgbClr val="9FD8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5925312"/>
            <a:ext cx="106372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AECEF"/>
                </a:solidFill>
                <a:latin typeface="Calibri"/>
              </a:rPr>
              <a:t>PROOF  ·  6-minute screen recording, all five acts on real data, real embeddings — I'll send it.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9AA0A6"/>
                </a:solidFill>
                <a:latin typeface="Calibri"/>
              </a:rPr>
              <a:t>local-only · pre-seed · 2026-05-06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1094415" cy="8000"/>
          </a:xfrm>
          <a:prstGeom prst="rect">
            <a:avLst/>
          </a:prstGeom>
          <a:solidFill>
            <a:srgbClr val="333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9AA0A6"/>
                </a:solidFill>
                <a:latin typeface="Calibri"/>
              </a:rPr>
              <a:t>TRACEMIND  /  WHAT'S GOOD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14255" y="2286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9AA0A6"/>
                </a:solidFill>
                <a:latin typeface="Calibri"/>
              </a:rPr>
              <a:t>06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10944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6EA8FE"/>
                </a:solidFill>
                <a:latin typeface="Calibri"/>
              </a:rPr>
              <a:t>WHAT'S GOOD (HONEST VERSION)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80160"/>
            <a:ext cx="1109441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EAECEF"/>
                </a:solidFill>
                <a:latin typeface="Calibri"/>
              </a:rPr>
              <a:t>Five things I'd argue I got right.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331720"/>
            <a:ext cx="502920" cy="502920"/>
          </a:xfrm>
          <a:prstGeom prst="ellipse">
            <a:avLst/>
          </a:prstGeom>
          <a:solidFill>
            <a:srgbClr val="9FD8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33172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14161A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331720"/>
            <a:ext cx="10317175" cy="77724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25000"/>
              </a:lnSpc>
            </a:pPr>
            <a:r>
              <a:rPr sz="1400" b="1">
                <a:solidFill>
                  <a:srgbClr val="EAECEF"/>
                </a:solidFill>
                <a:latin typeface="Calibri"/>
              </a:rPr>
              <a:t>Architecture is right.  </a:t>
            </a:r>
            <a:r>
              <a:rPr sz="1300">
                <a:solidFill>
                  <a:srgbClr val="9AA0A6"/>
                </a:solidFill>
                <a:latin typeface="Calibri"/>
              </a:rPr>
              <a:t>6 memory types × 10 cognitive ops match the brain literature, not a database schema. Hard to copy without a ground-up rewrite.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081528"/>
            <a:ext cx="502920" cy="502920"/>
          </a:xfrm>
          <a:prstGeom prst="ellipse">
            <a:avLst/>
          </a:prstGeom>
          <a:solidFill>
            <a:srgbClr val="9FD8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081528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14161A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3081528"/>
            <a:ext cx="10317175" cy="77724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25000"/>
              </a:lnSpc>
            </a:pPr>
            <a:r>
              <a:rPr sz="1400" b="1">
                <a:solidFill>
                  <a:srgbClr val="EAECEF"/>
                </a:solidFill>
                <a:latin typeface="Calibri"/>
              </a:rPr>
              <a:t>Local-only is real, not marketed.  </a:t>
            </a:r>
            <a:r>
              <a:rPr sz="1300">
                <a:solidFill>
                  <a:srgbClr val="9AA0A6"/>
                </a:solidFill>
                <a:latin typeface="Calibri"/>
              </a:rPr>
              <a:t>Every storage layer is SQLite on the user's machine. No "encrypted cloud sync that's actually default-on cloud sync."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3831336"/>
            <a:ext cx="502920" cy="502920"/>
          </a:xfrm>
          <a:prstGeom prst="ellipse">
            <a:avLst/>
          </a:prstGeom>
          <a:solidFill>
            <a:srgbClr val="9FD8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831336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14161A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831336"/>
            <a:ext cx="10317175" cy="77724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25000"/>
              </a:lnSpc>
            </a:pPr>
            <a:r>
              <a:rPr sz="1400" b="1">
                <a:solidFill>
                  <a:srgbClr val="EAECEF"/>
                </a:solidFill>
                <a:latin typeface="Calibri"/>
              </a:rPr>
              <a:t>Real eval harness.  </a:t>
            </a:r>
            <a:r>
              <a:rPr sz="1300">
                <a:solidFill>
                  <a:srgbClr val="9AA0A6"/>
                </a:solidFill>
                <a:latin typeface="Calibri"/>
              </a:rPr>
              <a:t>LoCoMo runs in CI; any PR dropping &gt;0.5 F1 fails. That's discipline most pre-seed AI teams don't have.</a:t>
            </a:r>
          </a:p>
        </p:txBody>
      </p:sp>
      <p:sp>
        <p:nvSpPr>
          <p:cNvPr id="17" name="Oval 16"/>
          <p:cNvSpPr/>
          <p:nvPr/>
        </p:nvSpPr>
        <p:spPr>
          <a:xfrm>
            <a:off x="548640" y="4581144"/>
            <a:ext cx="502920" cy="502920"/>
          </a:xfrm>
          <a:prstGeom prst="ellipse">
            <a:avLst/>
          </a:prstGeom>
          <a:solidFill>
            <a:srgbClr val="9FD8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4581144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14161A"/>
                </a:solidFill>
                <a:latin typeface="Calibr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4581144"/>
            <a:ext cx="10317175" cy="77724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25000"/>
              </a:lnSpc>
            </a:pPr>
            <a:r>
              <a:rPr sz="1400" b="1">
                <a:solidFill>
                  <a:srgbClr val="EAECEF"/>
                </a:solidFill>
                <a:latin typeface="Calibri"/>
              </a:rPr>
              <a:t>The wedge is sharp.  </a:t>
            </a:r>
            <a:r>
              <a:rPr sz="1300">
                <a:solidFill>
                  <a:srgbClr val="9AA0A6"/>
                </a:solidFill>
                <a:latin typeface="Calibri"/>
              </a:rPr>
              <a:t>"System of intents" is a category that doesn't exist yet. Notes apps are saturated. Commitment-tracking with a personal predictive model is empty.</a:t>
            </a:r>
          </a:p>
        </p:txBody>
      </p:sp>
      <p:sp>
        <p:nvSpPr>
          <p:cNvPr id="20" name="Oval 19"/>
          <p:cNvSpPr/>
          <p:nvPr/>
        </p:nvSpPr>
        <p:spPr>
          <a:xfrm>
            <a:off x="548640" y="5330952"/>
            <a:ext cx="502920" cy="502920"/>
          </a:xfrm>
          <a:prstGeom prst="ellipse">
            <a:avLst/>
          </a:prstGeom>
          <a:solidFill>
            <a:srgbClr val="9FD8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5330952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14161A"/>
                </a:solidFill>
                <a:latin typeface="Calibri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5330952"/>
            <a:ext cx="10317175" cy="77724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25000"/>
              </a:lnSpc>
            </a:pPr>
            <a:r>
              <a:rPr sz="1400" b="1">
                <a:solidFill>
                  <a:srgbClr val="EAECEF"/>
                </a:solidFill>
                <a:latin typeface="Calibri"/>
              </a:rPr>
              <a:t>The brain extends naturally.  </a:t>
            </a:r>
            <a:r>
              <a:rPr sz="1300">
                <a:solidFill>
                  <a:srgbClr val="9AA0A6"/>
                </a:solidFill>
                <a:latin typeface="Calibri"/>
              </a:rPr>
              <a:t>Same crates power CLI, MCP, capture daemon, and desktop app. No architectural rewrite when we add a surface.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9AA0A6"/>
                </a:solidFill>
                <a:latin typeface="Calibri"/>
              </a:rPr>
              <a:t>local-only · pre-seed · 2026-05-06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1094415" cy="8000"/>
          </a:xfrm>
          <a:prstGeom prst="rect">
            <a:avLst/>
          </a:prstGeom>
          <a:solidFill>
            <a:srgbClr val="333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9AA0A6"/>
                </a:solidFill>
                <a:latin typeface="Calibri"/>
              </a:rPr>
              <a:t>TRACEMIND  /  WHAT'S BAD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14255" y="2286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9AA0A6"/>
                </a:solidFill>
                <a:latin typeface="Calibri"/>
              </a:rPr>
              <a:t>07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10944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6EA8FE"/>
                </a:solidFill>
                <a:latin typeface="Calibri"/>
              </a:rPr>
              <a:t>WHAT'S BAD (ALSO HONEST)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80160"/>
            <a:ext cx="1109441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EAECEF"/>
                </a:solidFill>
                <a:latin typeface="Calibri"/>
              </a:rPr>
              <a:t>Six things I'd push back on if I were you.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331720"/>
            <a:ext cx="502920" cy="502920"/>
          </a:xfrm>
          <a:prstGeom prst="ellipse">
            <a:avLst/>
          </a:prstGeom>
          <a:solidFill>
            <a:srgbClr val="F5A9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33172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14161A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331720"/>
            <a:ext cx="10317175" cy="64008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20000"/>
              </a:lnSpc>
            </a:pPr>
            <a:r>
              <a:rPr sz="1300" b="1">
                <a:solidFill>
                  <a:srgbClr val="EAECEF"/>
                </a:solidFill>
                <a:latin typeface="Calibri"/>
              </a:rPr>
              <a:t>LoCoMo F1 is 25.7. The target is 85.  </a:t>
            </a:r>
            <a:r>
              <a:rPr sz="1200">
                <a:solidFill>
                  <a:srgbClr val="9AA0A6"/>
                </a:solidFill>
                <a:latin typeface="Calibri"/>
              </a:rPr>
              <a:t>Mem0 / Letta / Zep clear 70+ because they use cloud LLMs as the synthesis layer. We've been on Tier-0 (extractive). Tier-1 (Qwen 2.5 1.5B Q4, ~900MB) is scaffolded — single biggest lever.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2971800"/>
            <a:ext cx="502920" cy="502920"/>
          </a:xfrm>
          <a:prstGeom prst="ellipse">
            <a:avLst/>
          </a:prstGeom>
          <a:solidFill>
            <a:srgbClr val="F5A9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97180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14161A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2971800"/>
            <a:ext cx="10317175" cy="64008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20000"/>
              </a:lnSpc>
            </a:pPr>
            <a:r>
              <a:rPr sz="1300" b="1">
                <a:solidFill>
                  <a:srgbClr val="EAECEF"/>
                </a:solidFill>
                <a:latin typeface="Calibri"/>
              </a:rPr>
              <a:t>World model is logistic regression.  </a:t>
            </a:r>
            <a:r>
              <a:rPr sz="1200">
                <a:solidFill>
                  <a:srgbClr val="9AA0A6"/>
                </a:solidFill>
                <a:latin typeface="Calibri"/>
              </a:rPr>
              <a:t>Calibration loop runs and the brief shows the outlook line, but logistic regression on 22 features is not "an AI moat." MLP + held-out validation is WIP, not landed.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3611880"/>
            <a:ext cx="502920" cy="502920"/>
          </a:xfrm>
          <a:prstGeom prst="ellipse">
            <a:avLst/>
          </a:prstGeom>
          <a:solidFill>
            <a:srgbClr val="F5A9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61188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14161A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611880"/>
            <a:ext cx="10317175" cy="64008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20000"/>
              </a:lnSpc>
            </a:pPr>
            <a:r>
              <a:rPr sz="1300" b="1">
                <a:solidFill>
                  <a:srgbClr val="EAECEF"/>
                </a:solidFill>
                <a:latin typeface="Calibri"/>
              </a:rPr>
              <a:t>GLiNER NER had a non-determinism paper cut. (fixed 2026-05-06)  </a:t>
            </a:r>
            <a:r>
              <a:rPr sz="1200">
                <a:solidFill>
                  <a:srgbClr val="9AA0A6"/>
                </a:solidFill>
                <a:latin typeface="Calibri"/>
              </a:rPr>
              <a:t>Same sentence used to give 0–5 entities across runs. Root cause: ORT thread scheduling + a 0.30 sigmoid cutoff right where logits flutter. Fix landed — deterministic ORT, 0.05 deadband, stable NMS tiebreakers. Costs ~1 F1; buys reproducible output.</a:t>
            </a:r>
          </a:p>
        </p:txBody>
      </p:sp>
      <p:sp>
        <p:nvSpPr>
          <p:cNvPr id="17" name="Oval 16"/>
          <p:cNvSpPr/>
          <p:nvPr/>
        </p:nvSpPr>
        <p:spPr>
          <a:xfrm>
            <a:off x="548640" y="4251960"/>
            <a:ext cx="502920" cy="502920"/>
          </a:xfrm>
          <a:prstGeom prst="ellipse">
            <a:avLst/>
          </a:prstGeom>
          <a:solidFill>
            <a:srgbClr val="F5A9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425196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14161A"/>
                </a:solidFill>
                <a:latin typeface="Calibr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4251960"/>
            <a:ext cx="10317175" cy="64008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20000"/>
              </a:lnSpc>
            </a:pPr>
            <a:r>
              <a:rPr sz="1300" b="1">
                <a:solidFill>
                  <a:srgbClr val="EAECEF"/>
                </a:solidFill>
                <a:latin typeface="Calibri"/>
              </a:rPr>
              <a:t>No multi-user, no sync, no collaboration.  </a:t>
            </a:r>
            <a:r>
              <a:rPr sz="1200">
                <a:solidFill>
                  <a:srgbClr val="9AA0A6"/>
                </a:solidFill>
                <a:latin typeface="Calibri"/>
              </a:rPr>
              <a:t>By design today, but every investor will ask. Phase 6: ACL + REST API. Need a clean answer ready.</a:t>
            </a:r>
          </a:p>
        </p:txBody>
      </p:sp>
      <p:sp>
        <p:nvSpPr>
          <p:cNvPr id="20" name="Oval 19"/>
          <p:cNvSpPr/>
          <p:nvPr/>
        </p:nvSpPr>
        <p:spPr>
          <a:xfrm>
            <a:off x="548640" y="4892040"/>
            <a:ext cx="502920" cy="502920"/>
          </a:xfrm>
          <a:prstGeom prst="ellipse">
            <a:avLst/>
          </a:prstGeom>
          <a:solidFill>
            <a:srgbClr val="F5A9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89204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14161A"/>
                </a:solidFill>
                <a:latin typeface="Calibri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4892040"/>
            <a:ext cx="10317175" cy="64008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20000"/>
              </a:lnSpc>
            </a:pPr>
            <a:r>
              <a:rPr sz="1300" b="1">
                <a:solidFill>
                  <a:srgbClr val="EAECEF"/>
                </a:solidFill>
                <a:latin typeface="Calibri"/>
              </a:rPr>
              <a:t>Tauri desktop app builds but doesn't ship.  </a:t>
            </a:r>
            <a:r>
              <a:rPr sz="1200">
                <a:solidFill>
                  <a:srgbClr val="9AA0A6"/>
                </a:solidFill>
                <a:latin typeface="Calibri"/>
              </a:rPr>
              <a:t>Pre-existing build script issue. Excluded from CI test runs. Not investor-blocking, not polished.</a:t>
            </a:r>
          </a:p>
        </p:txBody>
      </p:sp>
      <p:sp>
        <p:nvSpPr>
          <p:cNvPr id="23" name="Oval 22"/>
          <p:cNvSpPr/>
          <p:nvPr/>
        </p:nvSpPr>
        <p:spPr>
          <a:xfrm>
            <a:off x="548640" y="5532120"/>
            <a:ext cx="502920" cy="502920"/>
          </a:xfrm>
          <a:prstGeom prst="ellipse">
            <a:avLst/>
          </a:prstGeom>
          <a:solidFill>
            <a:srgbClr val="F5A9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553212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14161A"/>
                </a:solidFill>
                <a:latin typeface="Calibri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25880" y="5532120"/>
            <a:ext cx="10317175" cy="64008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20000"/>
              </a:lnSpc>
            </a:pPr>
            <a:r>
              <a:rPr sz="1300" b="1">
                <a:solidFill>
                  <a:srgbClr val="EAECEF"/>
                </a:solidFill>
                <a:latin typeface="Calibri"/>
              </a:rPr>
              <a:t>No funded user base.  </a:t>
            </a:r>
            <a:r>
              <a:rPr sz="1200">
                <a:solidFill>
                  <a:srgbClr val="9AA0A6"/>
                </a:solidFill>
                <a:latin typeface="Calibri"/>
              </a:rPr>
              <a:t>GitHub stars ≠ customers. We're optimizing the engine before we have proof anyone wants it. Counter-read: privacy-first is a "didn't realize you wanted it until cloud memory burns you" category.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9AA0A6"/>
                </a:solidFill>
                <a:latin typeface="Calibri"/>
              </a:rPr>
              <a:t>local-only · pre-seed · 2026-05-06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1094415" cy="8000"/>
          </a:xfrm>
          <a:prstGeom prst="rect">
            <a:avLst/>
          </a:prstGeom>
          <a:solidFill>
            <a:srgbClr val="333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9AA0A6"/>
                </a:solidFill>
                <a:latin typeface="Calibri"/>
              </a:rPr>
              <a:t>TRACEMIND  /  COGNITION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14255" y="2286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9AA0A6"/>
                </a:solidFill>
                <a:latin typeface="Calibri"/>
              </a:rPr>
              <a:t>08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10944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6EA8FE"/>
                </a:solidFill>
                <a:latin typeface="Calibri"/>
              </a:rPr>
              <a:t>WHAT NEEDS TO IMPROVE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80160"/>
            <a:ext cx="1109441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EAECEF"/>
                </a:solidFill>
                <a:latin typeface="Calibri"/>
              </a:rPr>
              <a:t>Ten moves, ranked by impact / effort.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331720"/>
            <a:ext cx="3576218" cy="3657600"/>
          </a:xfrm>
          <a:prstGeom prst="rect">
            <a:avLst/>
          </a:prstGeom>
          <a:solidFill>
            <a:srgbClr val="1E2126"/>
          </a:solidFill>
          <a:ln w="6350">
            <a:solidFill>
              <a:srgbClr val="3337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331720"/>
            <a:ext cx="3576218" cy="73152"/>
          </a:xfrm>
          <a:prstGeom prst="rect">
            <a:avLst/>
          </a:prstGeom>
          <a:solidFill>
            <a:srgbClr val="6EA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514600"/>
            <a:ext cx="311901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6EA8FE"/>
                </a:solidFill>
                <a:latin typeface="Calibri"/>
              </a:rPr>
              <a:t>TIER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834640"/>
            <a:ext cx="311901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9AA0A6"/>
                </a:solidFill>
                <a:latin typeface="Calibri"/>
              </a:rPr>
              <a:t>biggest unlocks (do first)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200400"/>
            <a:ext cx="3119018" cy="26517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6EA8FE"/>
                </a:solidFill>
                <a:latin typeface="Calibri"/>
              </a:rPr>
              <a:t>1.  </a:t>
            </a:r>
            <a:r>
              <a:rPr sz="1200">
                <a:solidFill>
                  <a:srgbClr val="EAECEF"/>
                </a:solidFill>
                <a:latin typeface="Calibri"/>
              </a:rPr>
              <a:t>Ship Tier-1 synthesis (Qwen 2.5 1.5B Q4). Single biggest lever — every cognition op looks 3× smarter for free.</a:t>
            </a:r>
          </a:p>
          <a:p>
            <a:pPr algn="l">
              <a:lnSpc>
                <a:spcPct val="120000"/>
              </a:lnSpc>
              <a:spcBef>
                <a:spcPts val="600"/>
              </a:spcBef>
            </a:pPr>
            <a:r>
              <a:rPr sz="1200" b="1">
                <a:solidFill>
                  <a:srgbClr val="6EA8FE"/>
                </a:solidFill>
                <a:latin typeface="Calibri"/>
              </a:rPr>
              <a:t>2.  </a:t>
            </a:r>
            <a:r>
              <a:rPr sz="1200">
                <a:solidFill>
                  <a:srgbClr val="EAECEF"/>
                </a:solidFill>
                <a:latin typeface="Calibri"/>
              </a:rPr>
              <a:t>Real reward signal into the bandit. One keypress feedback in the brief compounds for weeks.</a:t>
            </a:r>
          </a:p>
          <a:p>
            <a:pPr algn="l">
              <a:lnSpc>
                <a:spcPct val="120000"/>
              </a:lnSpc>
              <a:spcBef>
                <a:spcPts val="600"/>
              </a:spcBef>
            </a:pPr>
            <a:r>
              <a:rPr sz="1200" b="1">
                <a:solidFill>
                  <a:srgbClr val="6EA8FE"/>
                </a:solidFill>
                <a:latin typeface="Calibri"/>
              </a:rPr>
              <a:t>3.  </a:t>
            </a:r>
            <a:r>
              <a:rPr sz="1200">
                <a:solidFill>
                  <a:srgbClr val="EAECEF"/>
                </a:solidFill>
                <a:latin typeface="Calibri"/>
              </a:rPr>
              <a:t>Query rewriting before recall. ~5–8 F1 on multi-hop.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07738" y="2331720"/>
            <a:ext cx="3576218" cy="3657600"/>
          </a:xfrm>
          <a:prstGeom prst="rect">
            <a:avLst/>
          </a:prstGeom>
          <a:solidFill>
            <a:srgbClr val="1E2126"/>
          </a:solidFill>
          <a:ln w="6350">
            <a:solidFill>
              <a:srgbClr val="3337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07738" y="2331720"/>
            <a:ext cx="3576218" cy="73152"/>
          </a:xfrm>
          <a:prstGeom prst="rect">
            <a:avLst/>
          </a:prstGeom>
          <a:solidFill>
            <a:srgbClr val="9FD8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36338" y="2514600"/>
            <a:ext cx="311901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9FD8A4"/>
                </a:solidFill>
                <a:latin typeface="Calibri"/>
              </a:rPr>
              <a:t>TIER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36338" y="2834640"/>
            <a:ext cx="311901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9AA0A6"/>
                </a:solidFill>
                <a:latin typeface="Calibri"/>
              </a:rPr>
              <a:t>structural fixes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36338" y="3200400"/>
            <a:ext cx="3119018" cy="26517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9FD8A4"/>
                </a:solidFill>
                <a:latin typeface="Calibri"/>
              </a:rPr>
              <a:t>4.  </a:t>
            </a:r>
            <a:r>
              <a:rPr sz="1200">
                <a:solidFill>
                  <a:srgbClr val="EAECEF"/>
                </a:solidFill>
                <a:latin typeface="Calibri"/>
              </a:rPr>
              <a:t>Surprisal-gated ingestion (skip low-info captures).</a:t>
            </a:r>
          </a:p>
          <a:p>
            <a:pPr algn="l">
              <a:lnSpc>
                <a:spcPct val="120000"/>
              </a:lnSpc>
              <a:spcBef>
                <a:spcPts val="600"/>
              </a:spcBef>
            </a:pPr>
            <a:r>
              <a:rPr sz="1200" b="1">
                <a:solidFill>
                  <a:srgbClr val="9FD8A4"/>
                </a:solidFill>
                <a:latin typeface="Calibri"/>
              </a:rPr>
              <a:t>5.  </a:t>
            </a:r>
            <a:r>
              <a:rPr sz="1200">
                <a:solidFill>
                  <a:srgbClr val="EAECEF"/>
                </a:solidFill>
                <a:latin typeface="Calibri"/>
              </a:rPr>
              <a:t>Reasoning chains with beam search, not greedy.</a:t>
            </a:r>
          </a:p>
          <a:p>
            <a:pPr algn="l">
              <a:lnSpc>
                <a:spcPct val="120000"/>
              </a:lnSpc>
              <a:spcBef>
                <a:spcPts val="600"/>
              </a:spcBef>
            </a:pPr>
            <a:r>
              <a:rPr sz="1200" b="1">
                <a:solidFill>
                  <a:srgbClr val="9FD8A4"/>
                </a:solidFill>
                <a:latin typeface="Calibri"/>
              </a:rPr>
              <a:t>6.  </a:t>
            </a:r>
            <a:r>
              <a:rPr sz="1200">
                <a:solidFill>
                  <a:srgbClr val="EAECEF"/>
                </a:solidFill>
                <a:latin typeface="Calibri"/>
              </a:rPr>
              <a:t>Calibration via Platt scaling on world-model probabilities.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66836" y="2331720"/>
            <a:ext cx="3576218" cy="3657600"/>
          </a:xfrm>
          <a:prstGeom prst="rect">
            <a:avLst/>
          </a:prstGeom>
          <a:solidFill>
            <a:srgbClr val="1E2126"/>
          </a:solidFill>
          <a:ln w="6350">
            <a:solidFill>
              <a:srgbClr val="3337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66836" y="2331720"/>
            <a:ext cx="3576218" cy="73152"/>
          </a:xfrm>
          <a:prstGeom prst="rect">
            <a:avLst/>
          </a:prstGeom>
          <a:solidFill>
            <a:srgbClr val="F5A9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95436" y="2514600"/>
            <a:ext cx="311901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5A97F"/>
                </a:solidFill>
                <a:latin typeface="Calibri"/>
              </a:rPr>
              <a:t>TIER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95436" y="2834640"/>
            <a:ext cx="311901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9AA0A6"/>
                </a:solidFill>
                <a:latin typeface="Calibri"/>
              </a:rPr>
              <a:t>moat work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95436" y="3200400"/>
            <a:ext cx="3119018" cy="26517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F5A97F"/>
                </a:solidFill>
                <a:latin typeface="Calibri"/>
              </a:rPr>
              <a:t>7.  </a:t>
            </a:r>
            <a:r>
              <a:rPr sz="1200">
                <a:solidFill>
                  <a:srgbClr val="EAECEF"/>
                </a:solidFill>
                <a:latin typeface="Calibri"/>
              </a:rPr>
              <a:t>WL-kernel association → learned graph embedding (GNN).</a:t>
            </a:r>
          </a:p>
          <a:p>
            <a:pPr algn="l">
              <a:lnSpc>
                <a:spcPct val="120000"/>
              </a:lnSpc>
              <a:spcBef>
                <a:spcPts val="600"/>
              </a:spcBef>
            </a:pPr>
            <a:r>
              <a:rPr sz="1200" b="1">
                <a:solidFill>
                  <a:srgbClr val="F5A97F"/>
                </a:solidFill>
                <a:latin typeface="Calibri"/>
              </a:rPr>
              <a:t>8.  </a:t>
            </a:r>
            <a:r>
              <a:rPr sz="1200">
                <a:solidFill>
                  <a:srgbClr val="EAECEF"/>
                </a:solidFill>
                <a:latin typeface="Calibri"/>
              </a:rPr>
              <a:t>Consolidation via Louvain/Leiden community detection nightly.</a:t>
            </a:r>
          </a:p>
          <a:p>
            <a:pPr algn="l">
              <a:lnSpc>
                <a:spcPct val="120000"/>
              </a:lnSpc>
              <a:spcBef>
                <a:spcPts val="600"/>
              </a:spcBef>
            </a:pPr>
            <a:r>
              <a:rPr sz="1200" b="1">
                <a:solidFill>
                  <a:srgbClr val="F5A97F"/>
                </a:solidFill>
                <a:latin typeface="Calibri"/>
              </a:rPr>
              <a:t>9.  </a:t>
            </a:r>
            <a:r>
              <a:rPr sz="1200">
                <a:solidFill>
                  <a:srgbClr val="EAECEF"/>
                </a:solidFill>
                <a:latin typeface="Calibri"/>
              </a:rPr>
              <a:t>Pattern detector → factorization machine over interaction features.</a:t>
            </a:r>
          </a:p>
          <a:p>
            <a:pPr algn="l">
              <a:lnSpc>
                <a:spcPct val="120000"/>
              </a:lnSpc>
              <a:spcBef>
                <a:spcPts val="600"/>
              </a:spcBef>
            </a:pPr>
            <a:r>
              <a:rPr sz="1200" b="1">
                <a:solidFill>
                  <a:srgbClr val="F5A97F"/>
                </a:solidFill>
                <a:latin typeface="Calibri"/>
              </a:rPr>
              <a:t>10.  </a:t>
            </a:r>
            <a:r>
              <a:rPr sz="1200">
                <a:solidFill>
                  <a:srgbClr val="EAECEF"/>
                </a:solidFill>
                <a:latin typeface="Calibri"/>
              </a:rPr>
              <a:t>Working-memory ring (last N turns + retrievals fed back).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6126480"/>
            <a:ext cx="11094415" cy="502920"/>
          </a:xfrm>
          <a:prstGeom prst="rect">
            <a:avLst/>
          </a:prstGeom>
          <a:solidFill>
            <a:srgbClr val="1E2126"/>
          </a:solidFill>
          <a:ln w="6350">
            <a:solidFill>
              <a:srgbClr val="3337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6126480"/>
            <a:ext cx="73152" cy="502920"/>
          </a:xfrm>
          <a:prstGeom prst="rect">
            <a:avLst/>
          </a:prstGeom>
          <a:solidFill>
            <a:srgbClr val="6EA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6199632"/>
            <a:ext cx="106372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EAECEF"/>
                </a:solidFill>
                <a:latin typeface="Calibri"/>
              </a:rPr>
              <a:t>THE BET — #1 Tier-1 synthesis. Everything else is a multiplier on a base. Without it the base is templates.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9AA0A6"/>
                </a:solidFill>
                <a:latin typeface="Calibri"/>
              </a:rPr>
              <a:t>local-only · pre-seed · 2026-05-06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1094415" cy="8000"/>
          </a:xfrm>
          <a:prstGeom prst="rect">
            <a:avLst/>
          </a:prstGeom>
          <a:solidFill>
            <a:srgbClr val="333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9AA0A6"/>
                </a:solidFill>
                <a:latin typeface="Calibri"/>
              </a:rPr>
              <a:t>TRACEMIND  /  SPRINT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14255" y="2286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9AA0A6"/>
                </a:solidFill>
                <a:latin typeface="Calibri"/>
              </a:rPr>
              <a:t>09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10944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6EA8FE"/>
                </a:solidFill>
                <a:latin typeface="Calibri"/>
              </a:rPr>
              <a:t>THE PLAN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80160"/>
            <a:ext cx="1109441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EAECEF"/>
                </a:solidFill>
                <a:latin typeface="Calibri"/>
              </a:rPr>
              <a:t>Sprints A–G — canonical in INTENT_SYSTEM.md §10.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331720"/>
            <a:ext cx="11094415" cy="502920"/>
          </a:xfrm>
          <a:prstGeom prst="rect">
            <a:avLst/>
          </a:prstGeom>
          <a:solidFill>
            <a:srgbClr val="1E2126"/>
          </a:solidFill>
          <a:ln w="6350">
            <a:solidFill>
              <a:srgbClr val="3337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400300"/>
            <a:ext cx="365760" cy="365760"/>
          </a:xfrm>
          <a:prstGeom prst="ellipse">
            <a:avLst/>
          </a:prstGeom>
          <a:solidFill>
            <a:srgbClr val="6EA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40030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14161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450592"/>
            <a:ext cx="749807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EAECEF"/>
                </a:solidFill>
                <a:latin typeface="Calibri"/>
              </a:rPr>
              <a:t>Intent primitives + MCP tools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31375" y="2450592"/>
            <a:ext cx="1828800" cy="292608"/>
          </a:xfrm>
          <a:prstGeom prst="roundRect">
            <a:avLst>
              <a:gd name="adj" fmla="val 50000"/>
            </a:avLst>
          </a:prstGeom>
          <a:solidFill>
            <a:srgbClr val="9FD8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31375" y="2450592"/>
            <a:ext cx="18288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14161A"/>
                </a:solidFill>
                <a:latin typeface="Calibri"/>
              </a:rPr>
              <a:t>DONE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880360"/>
            <a:ext cx="11094415" cy="502920"/>
          </a:xfrm>
          <a:prstGeom prst="rect">
            <a:avLst/>
          </a:prstGeom>
          <a:solidFill>
            <a:srgbClr val="1E2126"/>
          </a:solidFill>
          <a:ln w="6350">
            <a:solidFill>
              <a:srgbClr val="3337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2948940"/>
            <a:ext cx="365760" cy="365760"/>
          </a:xfrm>
          <a:prstGeom prst="ellipse">
            <a:avLst/>
          </a:prstGeom>
          <a:solidFill>
            <a:srgbClr val="6EA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294894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14161A"/>
                </a:solidFill>
                <a:latin typeface="Calibri"/>
              </a:rPr>
              <a:t>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2999232"/>
            <a:ext cx="749807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EAECEF"/>
                </a:solidFill>
                <a:latin typeface="Calibri"/>
              </a:rPr>
              <a:t>Working memory ring + capture miner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31375" y="2999232"/>
            <a:ext cx="1828800" cy="292608"/>
          </a:xfrm>
          <a:prstGeom prst="roundRect">
            <a:avLst>
              <a:gd name="adj" fmla="val 50000"/>
            </a:avLst>
          </a:prstGeom>
          <a:solidFill>
            <a:srgbClr val="6EA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31375" y="2999232"/>
            <a:ext cx="18288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14161A"/>
                </a:solidFill>
                <a:latin typeface="Calibri"/>
              </a:rPr>
              <a:t>IN FLIGHT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429000"/>
            <a:ext cx="11094415" cy="502920"/>
          </a:xfrm>
          <a:prstGeom prst="rect">
            <a:avLst/>
          </a:prstGeom>
          <a:solidFill>
            <a:srgbClr val="1E2126"/>
          </a:solidFill>
          <a:ln w="6350">
            <a:solidFill>
              <a:srgbClr val="3337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85800" y="3497580"/>
            <a:ext cx="365760" cy="365760"/>
          </a:xfrm>
          <a:prstGeom prst="ellipse">
            <a:avLst/>
          </a:prstGeom>
          <a:solidFill>
            <a:srgbClr val="6EA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349758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14161A"/>
                </a:solidFill>
                <a:latin typeface="Calibri"/>
              </a:rPr>
              <a:t>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3547872"/>
            <a:ext cx="749807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EAECEF"/>
                </a:solidFill>
                <a:latin typeface="Calibri"/>
              </a:rPr>
              <a:t>World model (logistic) + calibration loop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631375" y="3547872"/>
            <a:ext cx="1828800" cy="292608"/>
          </a:xfrm>
          <a:prstGeom prst="roundRect">
            <a:avLst>
              <a:gd name="adj" fmla="val 50000"/>
            </a:avLst>
          </a:prstGeom>
          <a:solidFill>
            <a:srgbClr val="9FD8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31375" y="3547872"/>
            <a:ext cx="18288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14161A"/>
                </a:solidFill>
                <a:latin typeface="Calibri"/>
              </a:rPr>
              <a:t>DONE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3977640"/>
            <a:ext cx="11094415" cy="502920"/>
          </a:xfrm>
          <a:prstGeom prst="rect">
            <a:avLst/>
          </a:prstGeom>
          <a:solidFill>
            <a:srgbClr val="1E2126"/>
          </a:solidFill>
          <a:ln w="6350">
            <a:solidFill>
              <a:srgbClr val="3337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85800" y="4046220"/>
            <a:ext cx="365760" cy="365760"/>
          </a:xfrm>
          <a:prstGeom prst="ellipse">
            <a:avLst/>
          </a:prstGeom>
          <a:solidFill>
            <a:srgbClr val="6EA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404622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14161A"/>
                </a:solidFill>
                <a:latin typeface="Calibri"/>
              </a:rPr>
              <a:t>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34440" y="4096512"/>
            <a:ext cx="749807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EAECEF"/>
                </a:solidFill>
                <a:latin typeface="Calibri"/>
              </a:rPr>
              <a:t>Pattern detector + L2/L3 anticipations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631375" y="4096512"/>
            <a:ext cx="1828800" cy="292608"/>
          </a:xfrm>
          <a:prstGeom prst="roundRect">
            <a:avLst>
              <a:gd name="adj" fmla="val 50000"/>
            </a:avLst>
          </a:prstGeom>
          <a:solidFill>
            <a:srgbClr val="F5A9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31375" y="4096512"/>
            <a:ext cx="18288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14161A"/>
                </a:solidFill>
                <a:latin typeface="Calibri"/>
              </a:rPr>
              <a:t>NEXT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4526280"/>
            <a:ext cx="11094415" cy="502920"/>
          </a:xfrm>
          <a:prstGeom prst="rect">
            <a:avLst/>
          </a:prstGeom>
          <a:solidFill>
            <a:srgbClr val="1E2126"/>
          </a:solidFill>
          <a:ln w="6350">
            <a:solidFill>
              <a:srgbClr val="3337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85800" y="4594860"/>
            <a:ext cx="365760" cy="365760"/>
          </a:xfrm>
          <a:prstGeom prst="ellipse">
            <a:avLst/>
          </a:prstGeom>
          <a:solidFill>
            <a:srgbClr val="6EA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5800" y="459486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14161A"/>
                </a:solidFill>
                <a:latin typeface="Calibri"/>
              </a:rPr>
              <a:t>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34440" y="4645152"/>
            <a:ext cx="749807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EAECEF"/>
                </a:solidFill>
                <a:latin typeface="Calibri"/>
              </a:rPr>
              <a:t>Tier-1 synthesis default-on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631375" y="4645152"/>
            <a:ext cx="1828800" cy="292608"/>
          </a:xfrm>
          <a:prstGeom prst="roundRect">
            <a:avLst>
              <a:gd name="adj" fmla="val 50000"/>
            </a:avLst>
          </a:prstGeom>
          <a:solidFill>
            <a:srgbClr val="6EA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631375" y="4645152"/>
            <a:ext cx="18288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14161A"/>
                </a:solidFill>
                <a:latin typeface="Calibri"/>
              </a:rPr>
              <a:t>HIGHEST ROI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5074920"/>
            <a:ext cx="11094415" cy="502920"/>
          </a:xfrm>
          <a:prstGeom prst="rect">
            <a:avLst/>
          </a:prstGeom>
          <a:solidFill>
            <a:srgbClr val="1E2126"/>
          </a:solidFill>
          <a:ln w="6350">
            <a:solidFill>
              <a:srgbClr val="3337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685800" y="5143500"/>
            <a:ext cx="365760" cy="365760"/>
          </a:xfrm>
          <a:prstGeom prst="ellipse">
            <a:avLst/>
          </a:prstGeom>
          <a:solidFill>
            <a:srgbClr val="6EA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85800" y="514350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14161A"/>
                </a:solidFill>
                <a:latin typeface="Calibri"/>
              </a:rPr>
              <a:t>F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34440" y="5193792"/>
            <a:ext cx="749807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EAECEF"/>
                </a:solidFill>
                <a:latin typeface="Calibri"/>
              </a:rPr>
              <a:t>Dreaming / consolidation / surprisal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631375" y="5193792"/>
            <a:ext cx="1828800" cy="292608"/>
          </a:xfrm>
          <a:prstGeom prst="roundRect">
            <a:avLst>
              <a:gd name="adj" fmla="val 50000"/>
            </a:avLst>
          </a:prstGeom>
          <a:solidFill>
            <a:srgbClr val="9AA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631375" y="5193792"/>
            <a:ext cx="18288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14161A"/>
                </a:solidFill>
                <a:latin typeface="Calibri"/>
              </a:rPr>
              <a:t>DESIGNED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8640" y="5623560"/>
            <a:ext cx="11094415" cy="502920"/>
          </a:xfrm>
          <a:prstGeom prst="rect">
            <a:avLst/>
          </a:prstGeom>
          <a:solidFill>
            <a:srgbClr val="1E2126"/>
          </a:solidFill>
          <a:ln w="6350">
            <a:solidFill>
              <a:srgbClr val="3337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85800" y="5692140"/>
            <a:ext cx="365760" cy="365760"/>
          </a:xfrm>
          <a:prstGeom prst="ellipse">
            <a:avLst/>
          </a:prstGeom>
          <a:solidFill>
            <a:srgbClr val="6EA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85800" y="569214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14161A"/>
                </a:solidFill>
                <a:latin typeface="Calibri"/>
              </a:rPr>
              <a:t>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234440" y="5742432"/>
            <a:ext cx="749807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EAECEF"/>
                </a:solidFill>
                <a:latin typeface="Calibri"/>
              </a:rPr>
              <a:t>Companion UX (voice, narrative, garden)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631375" y="5742432"/>
            <a:ext cx="1828800" cy="292608"/>
          </a:xfrm>
          <a:prstGeom prst="roundRect">
            <a:avLst>
              <a:gd name="adj" fmla="val 50000"/>
            </a:avLst>
          </a:prstGeom>
          <a:solidFill>
            <a:srgbClr val="9AA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631375" y="5742432"/>
            <a:ext cx="18288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14161A"/>
                </a:solidFill>
                <a:latin typeface="Calibri"/>
              </a:rPr>
              <a:t>SCOPED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9AA0A6"/>
                </a:solidFill>
                <a:latin typeface="Calibri"/>
              </a:rPr>
              <a:t>Cognition roadmap items map onto these — see PHASE4_DELIGHT.md §9.6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1094415" cy="8000"/>
          </a:xfrm>
          <a:prstGeom prst="rect">
            <a:avLst/>
          </a:prstGeom>
          <a:solidFill>
            <a:srgbClr val="333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9AA0A6"/>
                </a:solidFill>
                <a:latin typeface="Calibri"/>
              </a:rPr>
              <a:t>TRACEMIND  /  THE MOAT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14255" y="2286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9AA0A6"/>
                </a:solidFill>
                <a:latin typeface="Calibri"/>
              </a:rPr>
              <a:t>10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10944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6EA8FE"/>
                </a:solidFill>
                <a:latin typeface="Calibri"/>
              </a:rPr>
              <a:t>THE MOAT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80160"/>
            <a:ext cx="1109441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EAECEF"/>
                </a:solidFill>
                <a:latin typeface="Calibri"/>
              </a:rPr>
              <a:t>Three lines. The whole bet.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377440"/>
            <a:ext cx="11094415" cy="1097280"/>
          </a:xfrm>
          <a:prstGeom prst="rect">
            <a:avLst/>
          </a:prstGeom>
          <a:solidFill>
            <a:srgbClr val="1E2126"/>
          </a:solidFill>
          <a:ln w="6350">
            <a:solidFill>
              <a:srgbClr val="3337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514600"/>
            <a:ext cx="1097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6EA8FE"/>
                </a:solidFill>
                <a:latin typeface="Calibr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2542032"/>
            <a:ext cx="95399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EAECEF"/>
                </a:solidFill>
                <a:latin typeface="Calibri"/>
              </a:rPr>
              <a:t>Privacy by construction.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2971800"/>
            <a:ext cx="953993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9AA0A6"/>
                </a:solidFill>
                <a:latin typeface="Calibri"/>
              </a:rPr>
              <a:t>Not a feature. Not a setting. The data physically lives on the user's machine.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611880"/>
            <a:ext cx="11094415" cy="1097280"/>
          </a:xfrm>
          <a:prstGeom prst="rect">
            <a:avLst/>
          </a:prstGeom>
          <a:solidFill>
            <a:srgbClr val="1E2126"/>
          </a:solidFill>
          <a:ln w="6350">
            <a:solidFill>
              <a:srgbClr val="3337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749040"/>
            <a:ext cx="1097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6EA8FE"/>
                </a:solidFill>
                <a:latin typeface="Calibr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0240" y="3776472"/>
            <a:ext cx="95399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EAECEF"/>
                </a:solidFill>
                <a:latin typeface="Calibri"/>
              </a:rPr>
              <a:t>Brain-shaped architecture.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40" y="4206240"/>
            <a:ext cx="953993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9AA0A6"/>
                </a:solidFill>
                <a:latin typeface="Calibri"/>
              </a:rPr>
              <a:t>6 memory types × 10 cognitive ops is hard to clone without a ground-up rewrite. Cloud memory competitors built database schemas — we built an architecture.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846320"/>
            <a:ext cx="11094415" cy="1097280"/>
          </a:xfrm>
          <a:prstGeom prst="rect">
            <a:avLst/>
          </a:prstGeom>
          <a:solidFill>
            <a:srgbClr val="1E2126"/>
          </a:solidFill>
          <a:ln w="6350">
            <a:solidFill>
              <a:srgbClr val="3337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983480"/>
            <a:ext cx="1097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6EA8FE"/>
                </a:solidFill>
                <a:latin typeface="Calibr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0240" y="5010912"/>
            <a:ext cx="95399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EAECEF"/>
                </a:solidFill>
                <a:latin typeface="Calibri"/>
              </a:rPr>
              <a:t>The trust loop.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20240" y="5440680"/>
            <a:ext cx="953993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9AA0A6"/>
                </a:solidFill>
                <a:latin typeface="Calibri"/>
              </a:rPr>
              <a:t>The world model goes silent when it's miscalibrated. The opposite of every notification-driven product. Earning the right to speak, by performance, is the long-term differentiator.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9AA0A6"/>
                </a:solidFill>
                <a:latin typeface="Calibri"/>
              </a:rPr>
              <a:t>local-only · pre-seed · 2026-05-06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1094415" cy="8000"/>
          </a:xfrm>
          <a:prstGeom prst="rect">
            <a:avLst/>
          </a:prstGeom>
          <a:solidFill>
            <a:srgbClr val="333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9AA0A6"/>
                </a:solidFill>
                <a:latin typeface="Calibri"/>
              </a:rPr>
              <a:t>TRACEMIND  /  WHAT I'M ASKING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14255" y="2286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9AA0A6"/>
                </a:solidFill>
                <a:latin typeface="Calibri"/>
              </a:rPr>
              <a:t>11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10944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6EA8FE"/>
                </a:solidFill>
                <a:latin typeface="Calibri"/>
              </a:rPr>
              <a:t>WHAT I'M ASKING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80160"/>
            <a:ext cx="1109441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EAECEF"/>
                </a:solidFill>
                <a:latin typeface="Calibri"/>
              </a:rPr>
              <a:t>Not a check. Not yet. Three things.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468880"/>
            <a:ext cx="3576218" cy="2926080"/>
          </a:xfrm>
          <a:prstGeom prst="rect">
            <a:avLst/>
          </a:prstGeom>
          <a:solidFill>
            <a:srgbClr val="1E2126"/>
          </a:solidFill>
          <a:ln w="6350">
            <a:solidFill>
              <a:srgbClr val="3337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69748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6EA8FE"/>
                </a:solidFill>
                <a:latin typeface="Calibr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429000"/>
            <a:ext cx="302757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EAECEF"/>
                </a:solidFill>
                <a:latin typeface="Calibri"/>
              </a:rPr>
              <a:t>READ THIS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886200"/>
            <a:ext cx="3027578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9AA0A6"/>
                </a:solidFill>
                <a:latin typeface="Calibri"/>
              </a:rPr>
              <a:t>Tell me what's wrong. You've seen more decks than I have. The honest read.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07738" y="2468880"/>
            <a:ext cx="3576218" cy="2926080"/>
          </a:xfrm>
          <a:prstGeom prst="rect">
            <a:avLst/>
          </a:prstGeom>
          <a:solidFill>
            <a:srgbClr val="1E2126"/>
          </a:solidFill>
          <a:ln w="6350">
            <a:solidFill>
              <a:srgbClr val="3337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82058" y="269748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6EA8FE"/>
                </a:solidFill>
                <a:latin typeface="Calibr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82058" y="3429000"/>
            <a:ext cx="302757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EAECEF"/>
                </a:solidFill>
                <a:latin typeface="Calibri"/>
              </a:rPr>
              <a:t>WATCH THE 6-MIN DEMO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82058" y="3886200"/>
            <a:ext cx="3027578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9AA0A6"/>
                </a:solidFill>
                <a:latin typeface="Calibri"/>
              </a:rPr>
              <a:t>Tell me whether Act 3 (the world-model preflight moment) lands as the magic moment I think it is — or if I'm fooling myself.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66836" y="2468880"/>
            <a:ext cx="3576218" cy="2926080"/>
          </a:xfrm>
          <a:prstGeom prst="rect">
            <a:avLst/>
          </a:prstGeom>
          <a:solidFill>
            <a:srgbClr val="1E2126"/>
          </a:solidFill>
          <a:ln w="6350">
            <a:solidFill>
              <a:srgbClr val="3337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41156" y="269748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6EA8FE"/>
                </a:solidFill>
                <a:latin typeface="Calibr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41156" y="3429000"/>
            <a:ext cx="302757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EAECEF"/>
                </a:solidFill>
                <a:latin typeface="Calibri"/>
              </a:rPr>
              <a:t>TWO INTROS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41156" y="3886200"/>
            <a:ext cx="3027578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9AA0A6"/>
                </a:solidFill>
                <a:latin typeface="Calibri"/>
              </a:rPr>
              <a:t>If any of this resonates: one ML-flavoured solo founder I should compare notes with, and one privacy/security-aware angel who'd get the wedge without me explaining why local matters.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9AA0A6"/>
                </a:solidFill>
                <a:latin typeface="Calibri"/>
              </a:rPr>
              <a:t>local-only · pre-seed · 2026-05-06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EA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6EA8FE"/>
                </a:solidFill>
                <a:latin typeface="Calibri"/>
              </a:rPr>
              <a:t>CLOSING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80160"/>
            <a:ext cx="105156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9AA0A6"/>
                </a:solidFill>
                <a:latin typeface="Calibri"/>
              </a:rPr>
              <a:t>The boring memory-OS race
is already lost to Mem0 / Honcho.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017520"/>
            <a:ext cx="105156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EAECEF"/>
                </a:solidFill>
                <a:latin typeface="Calibri"/>
              </a:rPr>
              <a:t>The companion race hasn't started.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57200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1">
                <a:solidFill>
                  <a:srgbClr val="6EA8FE"/>
                </a:solidFill>
                <a:latin typeface="Calibri"/>
              </a:rPr>
              <a:t>Privacy is the moat. The brain is the product.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02920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EAECEF"/>
                </a:solidFill>
                <a:latin typeface="Calibri"/>
              </a:rPr>
              <a:t>Everything you need to use TraceMind runs on this machine.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5669280"/>
            <a:ext cx="6858000" cy="640080"/>
          </a:xfrm>
          <a:prstGeom prst="rect">
            <a:avLst/>
          </a:prstGeom>
          <a:solidFill>
            <a:srgbClr val="1E2126"/>
          </a:solidFill>
          <a:ln w="6350">
            <a:solidFill>
              <a:srgbClr val="3337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5806440"/>
            <a:ext cx="6492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>
                <a:solidFill>
                  <a:srgbClr val="EAECEF"/>
                </a:solidFill>
                <a:latin typeface="Menlo"/>
              </a:rPr>
              <a:t>~/.tracemind/  is the only state.  rm -rf works.  that's the whole pitch.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05695" y="630936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9AA0A6"/>
                </a:solidFill>
                <a:latin typeface="Calibri"/>
              </a:rPr>
              <a:t>— Aaditya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1094415" cy="8000"/>
          </a:xfrm>
          <a:prstGeom prst="rect">
            <a:avLst/>
          </a:prstGeom>
          <a:solidFill>
            <a:srgbClr val="333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9AA0A6"/>
                </a:solidFill>
                <a:latin typeface="Calibri"/>
              </a:rPr>
              <a:t>TRACEMIND  /  APPENDIX · PROOF POINTS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14255" y="2286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9AA0A6"/>
                </a:solidFill>
                <a:latin typeface="Calibri"/>
              </a:rPr>
              <a:t>13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10944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6EA8FE"/>
                </a:solidFill>
                <a:latin typeface="Calibri"/>
              </a:rPr>
              <a:t>APPENDIX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80160"/>
            <a:ext cx="1109441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EAECEF"/>
                </a:solidFill>
                <a:latin typeface="Calibri"/>
              </a:rPr>
              <a:t>Where to verify everything in here.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331720"/>
            <a:ext cx="11094415" cy="685800"/>
          </a:xfrm>
          <a:prstGeom prst="rect">
            <a:avLst/>
          </a:prstGeom>
          <a:solidFill>
            <a:srgbClr val="1E2126"/>
          </a:solidFill>
          <a:ln w="6350">
            <a:solidFill>
              <a:srgbClr val="3337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496312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6EA8FE"/>
                </a:solidFill>
                <a:latin typeface="Calibri"/>
              </a:rPr>
              <a:t>CODE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2523744"/>
            <a:ext cx="90827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EAECEF"/>
                </a:solidFill>
                <a:latin typeface="Calibri"/>
              </a:rPr>
              <a:t>17-crate Rust workspace. 163 tests passing on main.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108960"/>
            <a:ext cx="11094415" cy="685800"/>
          </a:xfrm>
          <a:prstGeom prst="rect">
            <a:avLst/>
          </a:prstGeom>
          <a:solidFill>
            <a:srgbClr val="1E2126"/>
          </a:solidFill>
          <a:ln w="6350">
            <a:solidFill>
              <a:srgbClr val="3337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273552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6EA8FE"/>
                </a:solidFill>
                <a:latin typeface="Calibri"/>
              </a:rPr>
              <a:t>EVAL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77440" y="3300984"/>
            <a:ext cx="90827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EAECEF"/>
                </a:solidFill>
                <a:latin typeface="Calibri"/>
              </a:rPr>
              <a:t>LoCoMo mini F1 25.70 (BGE). CI-gated.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886200"/>
            <a:ext cx="11094415" cy="685800"/>
          </a:xfrm>
          <a:prstGeom prst="rect">
            <a:avLst/>
          </a:prstGeom>
          <a:solidFill>
            <a:srgbClr val="1E2126"/>
          </a:solidFill>
          <a:ln w="6350">
            <a:solidFill>
              <a:srgbClr val="3337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4050792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6EA8FE"/>
                </a:solidFill>
                <a:latin typeface="Calibri"/>
              </a:rPr>
              <a:t>DOCS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77440" y="4078224"/>
            <a:ext cx="90827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EAECEF"/>
                </a:solidFill>
                <a:latin typeface="Calibri"/>
              </a:rPr>
              <a:t>PHASE4_DELIGHT.md (progress + cognition roadmap) · INTENT_SYSTEM.md (wedge spec + 7-sprint plan) · BRAIN_ARCHITECTURE.md (full architecture) · LOCOMO_RESULTS.md (eval baselines)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663440"/>
            <a:ext cx="11094415" cy="685800"/>
          </a:xfrm>
          <a:prstGeom prst="rect">
            <a:avLst/>
          </a:prstGeom>
          <a:solidFill>
            <a:srgbClr val="1E2126"/>
          </a:solidFill>
          <a:ln w="6350">
            <a:solidFill>
              <a:srgbClr val="3337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828032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6EA8FE"/>
                </a:solidFill>
                <a:latin typeface="Calibri"/>
              </a:rPr>
              <a:t>DEMO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77440" y="4855464"/>
            <a:ext cx="90827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EAECEF"/>
                </a:solidFill>
                <a:latin typeface="Calibri"/>
              </a:rPr>
              <a:t>demo/recordings/walkthrough-clean-20260506-215825.mov  (6 min, 5 acts)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5440680"/>
            <a:ext cx="11094415" cy="685800"/>
          </a:xfrm>
          <a:prstGeom prst="rect">
            <a:avLst/>
          </a:prstGeom>
          <a:solidFill>
            <a:srgbClr val="1E2126"/>
          </a:solidFill>
          <a:ln w="6350">
            <a:solidFill>
              <a:srgbClr val="3337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5605272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6EA8FE"/>
                </a:solidFill>
                <a:latin typeface="Calibri"/>
              </a:rPr>
              <a:t>REPO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40" y="5632704"/>
            <a:ext cx="90827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EAECEF"/>
                </a:solidFill>
                <a:latin typeface="Calibri"/>
              </a:rPr>
              <a:t>github.com/aadi2vec/tracemind   (private — ask for access)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9AA0A6"/>
                </a:solidFill>
                <a:latin typeface="Calibri"/>
              </a:rPr>
              <a:t>local-only · pre-seed · 2026-05-06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